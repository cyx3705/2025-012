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7" r:id="rId3"/>
    <p:sldId id="258" r:id="rId4"/>
    <p:sldId id="259" r:id="rId5"/>
    <p:sldId id="260" r:id="rId6"/>
    <p:sldId id="262" r:id="rId7"/>
    <p:sldId id="265" r:id="rId8"/>
    <p:sldId id="261" r:id="rId9"/>
    <p:sldId id="266" r:id="rId10"/>
    <p:sldId id="263" r:id="rId11"/>
    <p:sldId id="267" r:id="rId12"/>
    <p:sldId id="268" r:id="rId13"/>
    <p:sldId id="269" r:id="rId14"/>
    <p:sldId id="272" r:id="rId15"/>
    <p:sldId id="270" r:id="rId16"/>
    <p:sldId id="275" r:id="rId17"/>
    <p:sldId id="276" r:id="rId18"/>
    <p:sldId id="277" r:id="rId19"/>
    <p:sldId id="300" r:id="rId20"/>
    <p:sldId id="280" r:id="rId21"/>
    <p:sldId id="294" r:id="rId22"/>
    <p:sldId id="297" r:id="rId23"/>
    <p:sldId id="278" r:id="rId24"/>
    <p:sldId id="282" r:id="rId25"/>
    <p:sldId id="283" r:id="rId26"/>
    <p:sldId id="284" r:id="rId27"/>
    <p:sldId id="286" r:id="rId28"/>
    <p:sldId id="285" r:id="rId29"/>
    <p:sldId id="287" r:id="rId30"/>
    <p:sldId id="273" r:id="rId31"/>
    <p:sldId id="295" r:id="rId32"/>
    <p:sldId id="296" r:id="rId33"/>
    <p:sldId id="289" r:id="rId34"/>
    <p:sldId id="288" r:id="rId35"/>
    <p:sldId id="290" r:id="rId36"/>
    <p:sldId id="291" r:id="rId37"/>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gs" Target="tags/tag99.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notesMaster" Target="notesMasters/notesMaster1.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3.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7.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image" Target="../media/image12.png"/><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image" Target="../media/image18.png"/><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9.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tags" Target="../tags/tag9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6.xml"/><Relationship Id="rId2" Type="http://schemas.openxmlformats.org/officeDocument/2006/relationships/image" Target="../media/image23.png"/><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7.xml"/><Relationship Id="rId2" Type="http://schemas.openxmlformats.org/officeDocument/2006/relationships/image" Target="../media/image25.png"/><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0" name="图片 99"/>
          <p:cNvPicPr/>
          <p:nvPr/>
        </p:nvPicPr>
        <p:blipFill>
          <a:blip r:embed="rId1"/>
          <a:stretch>
            <a:fillRect/>
          </a:stretch>
        </p:blipFill>
        <p:spPr>
          <a:xfrm>
            <a:off x="5763260" y="0"/>
            <a:ext cx="6428740" cy="4636135"/>
          </a:xfrm>
          <a:prstGeom prst="rect">
            <a:avLst/>
          </a:prstGeom>
          <a:noFill/>
          <a:ln w="9525">
            <a:noFill/>
          </a:ln>
        </p:spPr>
      </p:pic>
      <p:sp>
        <p:nvSpPr>
          <p:cNvPr id="7" name="矩形 6"/>
          <p:cNvSpPr/>
          <p:nvPr/>
        </p:nvSpPr>
        <p:spPr>
          <a:xfrm>
            <a:off x="5763260" y="2880360"/>
            <a:ext cx="6428740" cy="3977640"/>
          </a:xfrm>
          <a:prstGeom prst="rect">
            <a:avLst/>
          </a:prstGeom>
          <a:solidFill>
            <a:schemeClr val="accent1">
              <a:lumMod val="50000"/>
              <a:alpha val="3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0" y="0"/>
            <a:ext cx="8387715" cy="4636135"/>
          </a:xfrm>
          <a:prstGeom prst="rect">
            <a:avLst/>
          </a:prstGeom>
          <a:solidFill>
            <a:schemeClr val="accent5">
              <a:lumMod val="20000"/>
              <a:lumOff val="80000"/>
              <a:alpha val="3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标题 1"/>
          <p:cNvSpPr>
            <a:spLocks noGrp="1"/>
          </p:cNvSpPr>
          <p:nvPr>
            <p:ph type="title"/>
          </p:nvPr>
        </p:nvSpPr>
        <p:spPr>
          <a:xfrm>
            <a:off x="725170" y="872490"/>
            <a:ext cx="7034530" cy="3030220"/>
          </a:xfrm>
        </p:spPr>
        <p:txBody>
          <a:bodyPr>
            <a:noAutofit/>
            <a:scene3d>
              <a:camera prst="orthographicFront"/>
              <a:lightRig rig="threePt" dir="t"/>
            </a:scene3d>
          </a:bodyPr>
          <a:p>
            <a:r>
              <a:rPr lang="zh-CN" altLang="en-US" sz="15000">
                <a:solidFill>
                  <a:schemeClr val="tx1"/>
                </a:solidFill>
                <a:effectLst>
                  <a:outerShdw blurRad="38100" dist="19050" dir="2700000" algn="tl" rotWithShape="0">
                    <a:schemeClr val="dk1">
                      <a:alpha val="40000"/>
                    </a:schemeClr>
                  </a:outerShdw>
                </a:effectLst>
                <a:latin typeface="+mj-ea"/>
              </a:rPr>
              <a:t>船模</a:t>
            </a:r>
            <a:endParaRPr lang="zh-CN" altLang="en-US" sz="15000">
              <a:solidFill>
                <a:schemeClr val="tx1"/>
              </a:solidFill>
              <a:effectLst>
                <a:outerShdw blurRad="38100" dist="19050" dir="2700000" algn="tl" rotWithShape="0">
                  <a:schemeClr val="dk1">
                    <a:alpha val="40000"/>
                  </a:schemeClr>
                </a:outerShdw>
              </a:effectLst>
              <a:latin typeface="+mj-ea"/>
            </a:endParaRPr>
          </a:p>
        </p:txBody>
      </p:sp>
      <p:sp>
        <p:nvSpPr>
          <p:cNvPr id="4" name="文本框 3"/>
          <p:cNvSpPr txBox="1"/>
          <p:nvPr/>
        </p:nvSpPr>
        <p:spPr>
          <a:xfrm>
            <a:off x="6793230" y="5286375"/>
            <a:ext cx="4804410" cy="1076325"/>
          </a:xfrm>
          <a:prstGeom prst="rect">
            <a:avLst/>
          </a:prstGeom>
          <a:noFill/>
        </p:spPr>
        <p:txBody>
          <a:bodyPr wrap="square" rtlCol="0">
            <a:spAutoFit/>
          </a:bodyPr>
          <a:p>
            <a:r>
              <a:rPr lang="zh-CN" altLang="en-US" sz="3200"/>
              <a:t>组员：陈煜暄</a:t>
            </a:r>
            <a:r>
              <a:rPr lang="en-US" altLang="zh-CN" sz="3200"/>
              <a:t>  </a:t>
            </a:r>
            <a:r>
              <a:rPr lang="zh-CN" altLang="en-US" sz="3200"/>
              <a:t>娄必辉</a:t>
            </a:r>
            <a:endParaRPr lang="zh-CN" altLang="en-US" sz="3200"/>
          </a:p>
          <a:p>
            <a:r>
              <a:rPr lang="en-US" altLang="zh-CN" sz="3200"/>
              <a:t>           </a:t>
            </a:r>
            <a:r>
              <a:rPr lang="zh-CN" altLang="en-US" sz="3200"/>
              <a:t>包高翔</a:t>
            </a:r>
            <a:r>
              <a:rPr lang="en-US" altLang="zh-CN" sz="3200"/>
              <a:t>  </a:t>
            </a:r>
            <a:r>
              <a:rPr lang="zh-CN" altLang="en-US" sz="3200"/>
              <a:t>王建楠</a:t>
            </a:r>
            <a:endParaRPr lang="zh-CN" altLang="en-US" sz="3200"/>
          </a:p>
        </p:txBody>
      </p:sp>
      <p:pic>
        <p:nvPicPr>
          <p:cNvPr id="8" name="图片 7" descr="01301-3179301519-"/>
          <p:cNvPicPr>
            <a:picLocks noChangeAspect="1"/>
          </p:cNvPicPr>
          <p:nvPr/>
        </p:nvPicPr>
        <p:blipFill>
          <a:blip r:embed="rId2"/>
          <a:stretch>
            <a:fillRect/>
          </a:stretch>
        </p:blipFill>
        <p:spPr>
          <a:xfrm>
            <a:off x="5763260" y="2880360"/>
            <a:ext cx="2633980" cy="1755775"/>
          </a:xfrm>
          <a:prstGeom prst="rect">
            <a:avLst/>
          </a:prstGeom>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目录</a:t>
            </a:r>
            <a:endParaRPr lang="zh-CN" altLang="en-US"/>
          </a:p>
        </p:txBody>
      </p:sp>
      <p:sp>
        <p:nvSpPr>
          <p:cNvPr id="3" name="内容占位符 2"/>
          <p:cNvSpPr>
            <a:spLocks noGrp="1"/>
          </p:cNvSpPr>
          <p:nvPr>
            <p:ph idx="1"/>
          </p:nvPr>
        </p:nvSpPr>
        <p:spPr/>
        <p:txBody>
          <a:bodyPr/>
          <a:p>
            <a:r>
              <a:rPr lang="zh-CN" altLang="en-US">
                <a:highlight>
                  <a:srgbClr val="FFFF00"/>
                </a:highlight>
              </a:rPr>
              <a:t>总体思路</a:t>
            </a:r>
            <a:endParaRPr lang="zh-CN" altLang="en-US">
              <a:highlight>
                <a:srgbClr val="FFFF00"/>
              </a:highlight>
            </a:endParaRPr>
          </a:p>
          <a:p>
            <a:r>
              <a:rPr lang="zh-CN" altLang="en-US"/>
              <a:t>液面倾斜对浮心深度和重心高度的影响</a:t>
            </a:r>
            <a:r>
              <a:rPr lang="en-US" altLang="zh-CN"/>
              <a:t>1</a:t>
            </a:r>
            <a:endParaRPr lang="zh-CN" altLang="en-US"/>
          </a:p>
          <a:p>
            <a:r>
              <a:rPr lang="zh-CN" altLang="en-US"/>
              <a:t>小试牛刀（截面浮心的计算）</a:t>
            </a:r>
            <a:r>
              <a:rPr lang="en-US" altLang="zh-CN"/>
              <a:t>2</a:t>
            </a:r>
            <a:endParaRPr lang="zh-CN" altLang="en-US"/>
          </a:p>
          <a:p>
            <a:r>
              <a:rPr lang="zh-CN" altLang="en-US"/>
              <a:t>船体浮心的计算</a:t>
            </a:r>
            <a:r>
              <a:rPr lang="en-US" altLang="zh-CN"/>
              <a:t>3</a:t>
            </a:r>
            <a:endParaRPr lang="zh-CN" altLang="en-US"/>
          </a:p>
          <a:p>
            <a:r>
              <a:rPr lang="zh-CN" altLang="en-US">
                <a:sym typeface="+mn-ea"/>
              </a:rPr>
              <a:t>船体总质量的计算</a:t>
            </a:r>
            <a:r>
              <a:rPr lang="en-US" altLang="zh-CN">
                <a:sym typeface="+mn-ea"/>
              </a:rPr>
              <a:t>4</a:t>
            </a:r>
            <a:endParaRPr lang="zh-CN" altLang="en-US"/>
          </a:p>
          <a:p>
            <a:r>
              <a:rPr lang="zh-CN" altLang="en-US"/>
              <a:t>船体吃水深度</a:t>
            </a:r>
            <a:r>
              <a:rPr lang="en-US" altLang="zh-CN"/>
              <a:t>H</a:t>
            </a:r>
            <a:r>
              <a:rPr lang="zh-CN" altLang="en-US"/>
              <a:t>的计算</a:t>
            </a:r>
            <a:r>
              <a:rPr lang="en-US" altLang="zh-CN"/>
              <a:t>5</a:t>
            </a:r>
            <a:endParaRPr lang="en-US" altLang="zh-CN"/>
          </a:p>
          <a:p>
            <a:r>
              <a:rPr lang="zh-CN" altLang="en-US"/>
              <a:t>用</a:t>
            </a:r>
            <a:r>
              <a:rPr lang="en-US" altLang="zh-CN"/>
              <a:t>3</a:t>
            </a:r>
            <a:r>
              <a:rPr lang="zh-CN" altLang="en-US"/>
              <a:t>解决一些</a:t>
            </a:r>
            <a:r>
              <a:rPr lang="zh-CN" altLang="en-US"/>
              <a:t>问题</a:t>
            </a:r>
            <a:endParaRPr lang="zh-CN" altLang="en-US"/>
          </a:p>
          <a:p>
            <a:endParaRPr lang="zh-CN" altLang="en-US"/>
          </a:p>
          <a:p>
            <a:pPr marL="0" indent="0">
              <a:buNone/>
            </a:pPr>
            <a:endParaRPr lang="zh-CN" altLang="en-US"/>
          </a:p>
        </p:txBody>
      </p:sp>
      <p:pic>
        <p:nvPicPr>
          <p:cNvPr id="4" name="图片 3" descr="01930-293855864-Create an image of a majestic sailing ship from the golden age of exploration. The ship should be a large galleon with three mas"/>
          <p:cNvPicPr>
            <a:picLocks noChangeAspect="1"/>
          </p:cNvPicPr>
          <p:nvPr/>
        </p:nvPicPr>
        <p:blipFill>
          <a:blip r:embed="rId1"/>
          <a:stretch>
            <a:fillRect/>
          </a:stretch>
        </p:blipFill>
        <p:spPr>
          <a:xfrm>
            <a:off x="6577330" y="2498725"/>
            <a:ext cx="4999990" cy="3750945"/>
          </a:xfrm>
          <a:prstGeom prst="rect">
            <a:avLst/>
          </a:prstGeom>
        </p:spPr>
      </p:pic>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总体</a:t>
            </a:r>
            <a:r>
              <a:rPr lang="zh-CN" altLang="en-US"/>
              <a:t>思路</a:t>
            </a:r>
            <a:endParaRPr lang="zh-CN" altLang="en-US"/>
          </a:p>
        </p:txBody>
      </p:sp>
      <p:sp>
        <p:nvSpPr>
          <p:cNvPr id="3" name="内容占位符 2"/>
          <p:cNvSpPr>
            <a:spLocks noGrp="1"/>
          </p:cNvSpPr>
          <p:nvPr>
            <p:ph idx="1"/>
          </p:nvPr>
        </p:nvSpPr>
        <p:spPr>
          <a:xfrm>
            <a:off x="608400" y="1490400"/>
            <a:ext cx="10969200" cy="4759200"/>
          </a:xfrm>
        </p:spPr>
        <p:txBody>
          <a:bodyPr/>
          <a:p>
            <a:r>
              <a:rPr lang="zh-CN" altLang="en-US"/>
              <a:t>让稳定总势能最低，而总势能由质心高度和浮心深度</a:t>
            </a:r>
            <a:r>
              <a:rPr lang="zh-CN" altLang="en-US"/>
              <a:t>决定</a:t>
            </a:r>
            <a:endParaRPr lang="zh-CN" altLang="en-US"/>
          </a:p>
          <a:p>
            <a:endParaRPr lang="zh-CN" altLang="en-US"/>
          </a:p>
          <a:p>
            <a:endParaRPr lang="zh-CN" altLang="en-US"/>
          </a:p>
          <a:p>
            <a:endParaRPr lang="zh-CN" altLang="en-US"/>
          </a:p>
          <a:p>
            <a:r>
              <a:rPr lang="zh-CN" altLang="en-US"/>
              <a:t>由于液面的升降将导致浮心深度和重心高度同步加深和降低或变浅和升高，所以液面变化的修正对总势能没有</a:t>
            </a:r>
            <a:r>
              <a:rPr lang="zh-CN" altLang="en-US"/>
              <a:t>影响。</a:t>
            </a:r>
            <a:endParaRPr lang="zh-CN" altLang="en-US"/>
          </a:p>
        </p:txBody>
      </p:sp>
      <p:pic>
        <p:nvPicPr>
          <p:cNvPr id="4" name="图片 3"/>
          <p:cNvPicPr>
            <a:picLocks noChangeAspect="1"/>
          </p:cNvPicPr>
          <p:nvPr/>
        </p:nvPicPr>
        <p:blipFill>
          <a:blip r:embed="rId1"/>
          <a:srcRect l="594" t="28025" r="10610" b="60621"/>
          <a:stretch>
            <a:fillRect/>
          </a:stretch>
        </p:blipFill>
        <p:spPr>
          <a:xfrm>
            <a:off x="929005" y="1990090"/>
            <a:ext cx="7211695" cy="1336040"/>
          </a:xfrm>
          <a:prstGeom prst="rect">
            <a:avLst/>
          </a:prstGeom>
        </p:spPr>
      </p:pic>
      <p:pic>
        <p:nvPicPr>
          <p:cNvPr id="7" name="图片 6"/>
          <p:cNvPicPr>
            <a:picLocks noChangeAspect="1"/>
          </p:cNvPicPr>
          <p:nvPr/>
        </p:nvPicPr>
        <p:blipFill>
          <a:blip r:embed="rId1">
            <a:lum bright="30000" contrast="42000"/>
          </a:blip>
          <a:srcRect l="1048" t="82142" r="1243" b="3249"/>
          <a:stretch>
            <a:fillRect/>
          </a:stretch>
        </p:blipFill>
        <p:spPr>
          <a:xfrm>
            <a:off x="929005" y="4483100"/>
            <a:ext cx="7935595" cy="1718945"/>
          </a:xfrm>
          <a:prstGeom prst="rect">
            <a:avLst/>
          </a:prstGeom>
        </p:spPr>
      </p:pic>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总体</a:t>
            </a:r>
            <a:r>
              <a:rPr lang="zh-CN" altLang="en-US"/>
              <a:t>思路</a:t>
            </a:r>
            <a:endParaRPr lang="zh-CN" altLang="en-US"/>
          </a:p>
        </p:txBody>
      </p:sp>
      <p:sp>
        <p:nvSpPr>
          <p:cNvPr id="3" name="内容占位符 2"/>
          <p:cNvSpPr>
            <a:spLocks noGrp="1"/>
          </p:cNvSpPr>
          <p:nvPr>
            <p:ph idx="1"/>
          </p:nvPr>
        </p:nvSpPr>
        <p:spPr/>
        <p:txBody>
          <a:bodyPr/>
          <a:p>
            <a:r>
              <a:rPr lang="zh-CN" altLang="en-US"/>
              <a:t>总势能的变化量就是</a:t>
            </a:r>
            <a:r>
              <a:rPr lang="en-US" altLang="zh-CN"/>
              <a:t>mg</a:t>
            </a:r>
            <a:r>
              <a:rPr lang="zh-CN" altLang="en-US"/>
              <a:t>×浮心质心高度变化</a:t>
            </a:r>
            <a:r>
              <a:rPr lang="zh-CN" altLang="en-US"/>
              <a:t>之和</a:t>
            </a:r>
            <a:endParaRPr lang="zh-CN" altLang="en-US"/>
          </a:p>
          <a:p>
            <a:endParaRPr lang="zh-CN" altLang="en-US"/>
          </a:p>
          <a:p>
            <a:endParaRPr lang="zh-CN" altLang="en-US"/>
          </a:p>
          <a:p>
            <a:endParaRPr lang="zh-CN" altLang="en-US"/>
          </a:p>
          <a:p>
            <a:r>
              <a:rPr lang="zh-CN" altLang="en-US"/>
              <a:t>总势能变化刚好就是复原力矩做功所以可以通过总势能变化求复原</a:t>
            </a:r>
            <a:r>
              <a:rPr lang="zh-CN" altLang="en-US"/>
              <a:t>力矩</a:t>
            </a:r>
            <a:endParaRPr lang="zh-CN" altLang="en-US"/>
          </a:p>
        </p:txBody>
      </p:sp>
      <p:pic>
        <p:nvPicPr>
          <p:cNvPr id="4" name="图片 3"/>
          <p:cNvPicPr>
            <a:picLocks noChangeAspect="1"/>
          </p:cNvPicPr>
          <p:nvPr/>
        </p:nvPicPr>
        <p:blipFill>
          <a:blip r:embed="rId1"/>
          <a:srcRect l="3299" t="2972" r="884" b="85088"/>
          <a:stretch>
            <a:fillRect/>
          </a:stretch>
        </p:blipFill>
        <p:spPr>
          <a:xfrm>
            <a:off x="789305" y="2101215"/>
            <a:ext cx="7781925" cy="1203960"/>
          </a:xfrm>
          <a:prstGeom prst="rect">
            <a:avLst/>
          </a:prstGeom>
        </p:spPr>
      </p:pic>
      <p:pic>
        <p:nvPicPr>
          <p:cNvPr id="5" name="图片 4"/>
          <p:cNvPicPr>
            <a:picLocks noChangeAspect="1"/>
          </p:cNvPicPr>
          <p:nvPr/>
        </p:nvPicPr>
        <p:blipFill>
          <a:blip r:embed="rId1"/>
          <a:srcRect l="5578" t="39614" r="22595" b="42878"/>
          <a:stretch>
            <a:fillRect/>
          </a:stretch>
        </p:blipFill>
        <p:spPr>
          <a:xfrm>
            <a:off x="869950" y="4092575"/>
            <a:ext cx="6809105" cy="2060575"/>
          </a:xfrm>
          <a:prstGeom prst="rect">
            <a:avLst/>
          </a:prstGeom>
        </p:spPr>
      </p:pic>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总体</a:t>
            </a:r>
            <a:r>
              <a:rPr lang="zh-CN" altLang="en-US"/>
              <a:t>思路</a:t>
            </a:r>
            <a:endParaRPr lang="zh-CN" altLang="en-US"/>
          </a:p>
        </p:txBody>
      </p:sp>
      <p:sp>
        <p:nvSpPr>
          <p:cNvPr id="3" name="内容占位符 2"/>
          <p:cNvSpPr>
            <a:spLocks noGrp="1"/>
          </p:cNvSpPr>
          <p:nvPr>
            <p:ph idx="1"/>
          </p:nvPr>
        </p:nvSpPr>
        <p:spPr/>
        <p:txBody>
          <a:bodyPr/>
          <a:p>
            <a:r>
              <a:rPr lang="zh-CN" altLang="en-US"/>
              <a:t>只有随着</a:t>
            </a:r>
            <a:r>
              <a:rPr lang="en-US" altLang="zh-CN"/>
              <a:t>sita</a:t>
            </a:r>
            <a:r>
              <a:rPr lang="zh-CN" altLang="en-US"/>
              <a:t>变化总势能升高，才可以让平衡态为</a:t>
            </a:r>
            <a:r>
              <a:rPr lang="zh-CN" altLang="en-US"/>
              <a:t>稳定态</a:t>
            </a:r>
            <a:endParaRPr lang="zh-CN" altLang="en-US"/>
          </a:p>
        </p:txBody>
      </p:sp>
      <p:pic>
        <p:nvPicPr>
          <p:cNvPr id="4" name="图片 3"/>
          <p:cNvPicPr>
            <a:picLocks noChangeAspect="1"/>
          </p:cNvPicPr>
          <p:nvPr/>
        </p:nvPicPr>
        <p:blipFill>
          <a:blip r:embed="rId1"/>
          <a:srcRect l="10594" t="79194" r="50000" b="14811"/>
          <a:stretch>
            <a:fillRect/>
          </a:stretch>
        </p:blipFill>
        <p:spPr>
          <a:xfrm>
            <a:off x="1059815" y="1948180"/>
            <a:ext cx="3973195" cy="750570"/>
          </a:xfrm>
          <a:prstGeom prst="rect">
            <a:avLst/>
          </a:prstGeom>
        </p:spPr>
      </p:pic>
      <p:pic>
        <p:nvPicPr>
          <p:cNvPr id="101" name="图片 100"/>
          <p:cNvPicPr>
            <a:picLocks noChangeAspect="1"/>
          </p:cNvPicPr>
          <p:nvPr/>
        </p:nvPicPr>
        <p:blipFill>
          <a:blip r:embed="rId2"/>
          <a:stretch>
            <a:fillRect/>
          </a:stretch>
        </p:blipFill>
        <p:spPr>
          <a:xfrm>
            <a:off x="9445625" y="4785995"/>
            <a:ext cx="2746375" cy="2072005"/>
          </a:xfrm>
          <a:prstGeom prst="rect">
            <a:avLst/>
          </a:prstGeom>
          <a:noFill/>
          <a:ln w="9525">
            <a:noFill/>
          </a:ln>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目录</a:t>
            </a:r>
            <a:endParaRPr lang="zh-CN" altLang="en-US"/>
          </a:p>
        </p:txBody>
      </p:sp>
      <p:sp>
        <p:nvSpPr>
          <p:cNvPr id="3" name="内容占位符 2"/>
          <p:cNvSpPr>
            <a:spLocks noGrp="1"/>
          </p:cNvSpPr>
          <p:nvPr>
            <p:ph idx="1"/>
          </p:nvPr>
        </p:nvSpPr>
        <p:spPr/>
        <p:txBody>
          <a:bodyPr/>
          <a:p>
            <a:r>
              <a:rPr lang="zh-CN" altLang="en-US"/>
              <a:t>总体思路</a:t>
            </a:r>
            <a:endParaRPr lang="zh-CN" altLang="en-US"/>
          </a:p>
          <a:p>
            <a:r>
              <a:rPr lang="zh-CN" altLang="en-US">
                <a:highlight>
                  <a:srgbClr val="FFFF00"/>
                </a:highlight>
              </a:rPr>
              <a:t>液面倾斜对浮心深度和重心高度的影响</a:t>
            </a:r>
            <a:r>
              <a:rPr lang="en-US" altLang="zh-CN"/>
              <a:t>1</a:t>
            </a:r>
            <a:endParaRPr lang="zh-CN" altLang="en-US"/>
          </a:p>
          <a:p>
            <a:r>
              <a:rPr lang="zh-CN" altLang="en-US"/>
              <a:t>小试牛刀（截面浮心的计算）</a:t>
            </a:r>
            <a:r>
              <a:rPr lang="en-US" altLang="zh-CN"/>
              <a:t>2</a:t>
            </a:r>
            <a:endParaRPr lang="zh-CN" altLang="en-US"/>
          </a:p>
          <a:p>
            <a:r>
              <a:rPr lang="zh-CN" altLang="en-US"/>
              <a:t>船体浮心的计算</a:t>
            </a:r>
            <a:r>
              <a:rPr lang="en-US" altLang="zh-CN"/>
              <a:t>3</a:t>
            </a:r>
            <a:endParaRPr lang="zh-CN" altLang="en-US"/>
          </a:p>
          <a:p>
            <a:r>
              <a:rPr lang="zh-CN" altLang="en-US">
                <a:sym typeface="+mn-ea"/>
              </a:rPr>
              <a:t>船体总质量的计算</a:t>
            </a:r>
            <a:r>
              <a:rPr lang="en-US" altLang="zh-CN">
                <a:sym typeface="+mn-ea"/>
              </a:rPr>
              <a:t>4</a:t>
            </a:r>
            <a:endParaRPr lang="zh-CN" altLang="en-US"/>
          </a:p>
          <a:p>
            <a:r>
              <a:rPr lang="zh-CN" altLang="en-US"/>
              <a:t>船体吃水深度</a:t>
            </a:r>
            <a:r>
              <a:rPr lang="en-US" altLang="zh-CN"/>
              <a:t>H</a:t>
            </a:r>
            <a:r>
              <a:rPr lang="zh-CN" altLang="en-US"/>
              <a:t>的计算</a:t>
            </a:r>
            <a:r>
              <a:rPr lang="en-US" altLang="zh-CN"/>
              <a:t>5</a:t>
            </a:r>
            <a:endParaRPr lang="en-US" altLang="zh-CN"/>
          </a:p>
          <a:p>
            <a:r>
              <a:rPr lang="zh-CN" altLang="en-US"/>
              <a:t>用</a:t>
            </a:r>
            <a:r>
              <a:rPr lang="en-US" altLang="zh-CN"/>
              <a:t>3</a:t>
            </a:r>
            <a:r>
              <a:rPr lang="zh-CN" altLang="en-US"/>
              <a:t>解决一些</a:t>
            </a:r>
            <a:r>
              <a:rPr lang="zh-CN" altLang="en-US"/>
              <a:t>问题</a:t>
            </a:r>
            <a:endParaRPr lang="zh-CN" altLang="en-US"/>
          </a:p>
          <a:p>
            <a:endParaRPr lang="zh-CN" altLang="en-US"/>
          </a:p>
          <a:p>
            <a:pPr marL="0" indent="0">
              <a:buNone/>
            </a:pPr>
            <a:endParaRPr lang="zh-CN" altLang="en-US"/>
          </a:p>
        </p:txBody>
      </p:sp>
      <p:pic>
        <p:nvPicPr>
          <p:cNvPr id="4" name="图片 3" descr="01930-293855864-Create an image of a majestic sailing ship from the golden age of exploration. The ship should be a large galleon with three mas"/>
          <p:cNvPicPr>
            <a:picLocks noChangeAspect="1"/>
          </p:cNvPicPr>
          <p:nvPr/>
        </p:nvPicPr>
        <p:blipFill>
          <a:blip r:embed="rId1"/>
          <a:stretch>
            <a:fillRect/>
          </a:stretch>
        </p:blipFill>
        <p:spPr>
          <a:xfrm>
            <a:off x="6577330" y="2498725"/>
            <a:ext cx="4999990" cy="3750945"/>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液面倾斜对</a:t>
            </a:r>
            <a:r>
              <a:rPr lang="en-US" altLang="zh-CN"/>
              <a:t>Δz</a:t>
            </a:r>
            <a:r>
              <a:rPr lang="zh-CN" altLang="en-US"/>
              <a:t>浮心和</a:t>
            </a:r>
            <a:r>
              <a:rPr lang="en-US" altLang="zh-CN"/>
              <a:t>Δz</a:t>
            </a:r>
            <a:r>
              <a:rPr lang="zh-CN" altLang="en-US"/>
              <a:t>质心的</a:t>
            </a:r>
            <a:r>
              <a:rPr lang="zh-CN" altLang="en-US"/>
              <a:t>关系</a:t>
            </a:r>
            <a:endParaRPr lang="zh-CN" altLang="en-US"/>
          </a:p>
        </p:txBody>
      </p:sp>
      <p:pic>
        <p:nvPicPr>
          <p:cNvPr id="4" name="内容占位符 3"/>
          <p:cNvPicPr>
            <a:picLocks noChangeAspect="1"/>
          </p:cNvPicPr>
          <p:nvPr>
            <p:ph idx="1"/>
          </p:nvPr>
        </p:nvPicPr>
        <p:blipFill>
          <a:blip r:embed="rId1"/>
          <a:srcRect l="3993" t="52555" r="-364" b="20093"/>
          <a:stretch>
            <a:fillRect/>
          </a:stretch>
        </p:blipFill>
        <p:spPr>
          <a:xfrm>
            <a:off x="680720" y="1842135"/>
            <a:ext cx="7239635" cy="2551430"/>
          </a:xfrm>
          <a:prstGeom prst="rect">
            <a:avLst/>
          </a:prstGeom>
        </p:spPr>
      </p:pic>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目录</a:t>
            </a:r>
            <a:endParaRPr lang="zh-CN" altLang="en-US"/>
          </a:p>
        </p:txBody>
      </p:sp>
      <p:sp>
        <p:nvSpPr>
          <p:cNvPr id="3" name="内容占位符 2"/>
          <p:cNvSpPr>
            <a:spLocks noGrp="1"/>
          </p:cNvSpPr>
          <p:nvPr>
            <p:ph idx="1"/>
          </p:nvPr>
        </p:nvSpPr>
        <p:spPr/>
        <p:txBody>
          <a:bodyPr/>
          <a:p>
            <a:r>
              <a:rPr lang="zh-CN" altLang="en-US"/>
              <a:t>总体思路</a:t>
            </a:r>
            <a:endParaRPr lang="zh-CN" altLang="en-US"/>
          </a:p>
          <a:p>
            <a:r>
              <a:rPr lang="zh-CN" altLang="en-US"/>
              <a:t>液面倾斜对浮心深度和重心高度的影响</a:t>
            </a:r>
            <a:r>
              <a:rPr lang="en-US" altLang="zh-CN"/>
              <a:t>1</a:t>
            </a:r>
            <a:endParaRPr lang="zh-CN" altLang="en-US"/>
          </a:p>
          <a:p>
            <a:r>
              <a:rPr lang="zh-CN" altLang="en-US">
                <a:highlight>
                  <a:srgbClr val="FFFF00"/>
                </a:highlight>
              </a:rPr>
              <a:t>小试牛刀（截面浮心的计算）</a:t>
            </a:r>
            <a:r>
              <a:rPr lang="en-US" altLang="zh-CN"/>
              <a:t>2</a:t>
            </a:r>
            <a:endParaRPr lang="zh-CN" altLang="en-US"/>
          </a:p>
          <a:p>
            <a:r>
              <a:rPr lang="zh-CN" altLang="en-US"/>
              <a:t>船体浮心的计算</a:t>
            </a:r>
            <a:r>
              <a:rPr lang="en-US" altLang="zh-CN"/>
              <a:t>3</a:t>
            </a:r>
            <a:endParaRPr lang="zh-CN" altLang="en-US"/>
          </a:p>
          <a:p>
            <a:r>
              <a:rPr lang="zh-CN" altLang="en-US">
                <a:sym typeface="+mn-ea"/>
              </a:rPr>
              <a:t>船体总质量的计算</a:t>
            </a:r>
            <a:r>
              <a:rPr lang="en-US" altLang="zh-CN">
                <a:sym typeface="+mn-ea"/>
              </a:rPr>
              <a:t>4</a:t>
            </a:r>
            <a:endParaRPr lang="zh-CN" altLang="en-US"/>
          </a:p>
          <a:p>
            <a:r>
              <a:rPr lang="zh-CN" altLang="en-US"/>
              <a:t>船体吃水深度</a:t>
            </a:r>
            <a:r>
              <a:rPr lang="en-US" altLang="zh-CN"/>
              <a:t>H</a:t>
            </a:r>
            <a:r>
              <a:rPr lang="zh-CN" altLang="en-US"/>
              <a:t>的计算</a:t>
            </a:r>
            <a:r>
              <a:rPr lang="en-US" altLang="zh-CN"/>
              <a:t>5</a:t>
            </a:r>
            <a:endParaRPr lang="en-US" altLang="zh-CN"/>
          </a:p>
          <a:p>
            <a:r>
              <a:rPr lang="zh-CN" altLang="en-US"/>
              <a:t>用</a:t>
            </a:r>
            <a:r>
              <a:rPr lang="en-US" altLang="zh-CN"/>
              <a:t>3</a:t>
            </a:r>
            <a:r>
              <a:rPr lang="zh-CN" altLang="en-US"/>
              <a:t>解决一些</a:t>
            </a:r>
            <a:r>
              <a:rPr lang="zh-CN" altLang="en-US"/>
              <a:t>问题</a:t>
            </a:r>
            <a:endParaRPr lang="zh-CN" altLang="en-US"/>
          </a:p>
          <a:p>
            <a:endParaRPr lang="zh-CN" altLang="en-US"/>
          </a:p>
          <a:p>
            <a:pPr marL="0" indent="0">
              <a:buNone/>
            </a:pPr>
            <a:endParaRPr lang="zh-CN" altLang="en-US"/>
          </a:p>
        </p:txBody>
      </p:sp>
      <p:pic>
        <p:nvPicPr>
          <p:cNvPr id="4" name="图片 3" descr="01930-293855864-Create an image of a majestic sailing ship from the golden age of exploration. The ship should be a large galleon with three mas"/>
          <p:cNvPicPr>
            <a:picLocks noChangeAspect="1"/>
          </p:cNvPicPr>
          <p:nvPr/>
        </p:nvPicPr>
        <p:blipFill>
          <a:blip r:embed="rId1"/>
          <a:stretch>
            <a:fillRect/>
          </a:stretch>
        </p:blipFill>
        <p:spPr>
          <a:xfrm>
            <a:off x="6577330" y="2498725"/>
            <a:ext cx="4999990" cy="3750945"/>
          </a:xfrm>
          <a:prstGeom prst="rect">
            <a:avLst/>
          </a:prstGeom>
        </p:spPr>
      </p:pic>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小试牛刀，计算截面的</a:t>
            </a:r>
            <a:r>
              <a:rPr lang="en-US" altLang="zh-CN"/>
              <a:t>ΔZ</a:t>
            </a:r>
            <a:r>
              <a:rPr lang="zh-CN" altLang="en-US"/>
              <a:t>浮心</a:t>
            </a:r>
            <a:r>
              <a:rPr lang="zh-CN" altLang="en-US"/>
              <a:t>算法</a:t>
            </a:r>
            <a:endParaRPr lang="zh-CN" altLang="en-US"/>
          </a:p>
        </p:txBody>
      </p:sp>
      <p:sp>
        <p:nvSpPr>
          <p:cNvPr id="3" name="内容占位符 2"/>
          <p:cNvSpPr>
            <a:spLocks noGrp="1"/>
          </p:cNvSpPr>
          <p:nvPr>
            <p:ph idx="1"/>
          </p:nvPr>
        </p:nvSpPr>
        <p:spPr/>
        <p:txBody>
          <a:bodyPr/>
          <a:p>
            <a:r>
              <a:rPr lang="en-US" altLang="zh-CN"/>
              <a:t>1</a:t>
            </a:r>
            <a:r>
              <a:rPr lang="zh-CN" altLang="en-US"/>
              <a:t>从复原力矩反推船体曲面</a:t>
            </a:r>
            <a:r>
              <a:rPr lang="zh-CN" altLang="en-US"/>
              <a:t>方程</a:t>
            </a:r>
            <a:endParaRPr lang="zh-CN" altLang="en-US"/>
          </a:p>
        </p:txBody>
      </p:sp>
      <p:pic>
        <p:nvPicPr>
          <p:cNvPr id="4" name="图片 3"/>
          <p:cNvPicPr>
            <a:picLocks noChangeAspect="1"/>
          </p:cNvPicPr>
          <p:nvPr/>
        </p:nvPicPr>
        <p:blipFill>
          <a:blip r:embed="rId1"/>
          <a:srcRect l="12017" t="23" r="20794" b="79"/>
          <a:stretch>
            <a:fillRect/>
          </a:stretch>
        </p:blipFill>
        <p:spPr>
          <a:xfrm rot="5400000">
            <a:off x="4448175" y="1267460"/>
            <a:ext cx="5577840" cy="5603240"/>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小试牛刀，计算截面的</a:t>
            </a:r>
            <a:r>
              <a:rPr lang="en-US" altLang="zh-CN">
                <a:sym typeface="+mn-ea"/>
              </a:rPr>
              <a:t>ΔZ</a:t>
            </a:r>
            <a:r>
              <a:rPr lang="zh-CN" altLang="en-US">
                <a:sym typeface="+mn-ea"/>
              </a:rPr>
              <a:t>浮心</a:t>
            </a:r>
            <a:r>
              <a:rPr lang="zh-CN" altLang="en-US">
                <a:sym typeface="+mn-ea"/>
              </a:rPr>
              <a:t>算法</a:t>
            </a:r>
            <a:endParaRPr lang="zh-CN" altLang="en-US">
              <a:sym typeface="+mn-ea"/>
            </a:endParaRPr>
          </a:p>
        </p:txBody>
      </p:sp>
      <p:pic>
        <p:nvPicPr>
          <p:cNvPr id="4" name="内容占位符 3"/>
          <p:cNvPicPr>
            <a:picLocks noChangeAspect="1"/>
          </p:cNvPicPr>
          <p:nvPr>
            <p:ph idx="1"/>
          </p:nvPr>
        </p:nvPicPr>
        <p:blipFill>
          <a:blip r:embed="rId1"/>
          <a:srcRect r="1816" b="59266"/>
          <a:stretch>
            <a:fillRect/>
          </a:stretch>
        </p:blipFill>
        <p:spPr>
          <a:xfrm>
            <a:off x="932815" y="1882775"/>
            <a:ext cx="7875270" cy="4631690"/>
          </a:xfrm>
          <a:prstGeom prst="rect">
            <a:avLst/>
          </a:prstGeom>
        </p:spPr>
      </p:pic>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小试牛刀，计算截面的</a:t>
            </a:r>
            <a:r>
              <a:rPr lang="en-US" altLang="zh-CN">
                <a:sym typeface="+mn-ea"/>
              </a:rPr>
              <a:t>ΔZ</a:t>
            </a:r>
            <a:r>
              <a:rPr lang="zh-CN" altLang="en-US">
                <a:sym typeface="+mn-ea"/>
              </a:rPr>
              <a:t>浮心</a:t>
            </a:r>
            <a:r>
              <a:rPr lang="zh-CN" altLang="en-US">
                <a:sym typeface="+mn-ea"/>
              </a:rPr>
              <a:t>算法</a:t>
            </a:r>
            <a:endParaRPr lang="zh-CN" altLang="en-US">
              <a:sym typeface="+mn-ea"/>
            </a:endParaRPr>
          </a:p>
        </p:txBody>
      </p:sp>
      <p:pic>
        <p:nvPicPr>
          <p:cNvPr id="4" name="内容占位符 3"/>
          <p:cNvPicPr>
            <a:picLocks noChangeAspect="1"/>
          </p:cNvPicPr>
          <p:nvPr>
            <p:ph idx="1"/>
          </p:nvPr>
        </p:nvPicPr>
        <p:blipFill>
          <a:blip r:embed="rId1"/>
          <a:srcRect l="2005" t="39320" r="2478" b="11341"/>
          <a:stretch>
            <a:fillRect/>
          </a:stretch>
        </p:blipFill>
        <p:spPr>
          <a:xfrm>
            <a:off x="608330" y="1487805"/>
            <a:ext cx="6177280" cy="4523740"/>
          </a:xfrm>
          <a:prstGeom prst="rect">
            <a:avLst/>
          </a:prstGeom>
        </p:spPr>
      </p:pic>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小试牛刀，计算截面的</a:t>
            </a:r>
            <a:r>
              <a:rPr lang="en-US" altLang="zh-CN">
                <a:sym typeface="+mn-ea"/>
              </a:rPr>
              <a:t>ΔZ</a:t>
            </a:r>
            <a:r>
              <a:rPr lang="zh-CN" altLang="en-US">
                <a:sym typeface="+mn-ea"/>
              </a:rPr>
              <a:t>浮心算法</a:t>
            </a:r>
            <a:endParaRPr lang="zh-CN" altLang="en-US"/>
          </a:p>
        </p:txBody>
      </p:sp>
      <p:pic>
        <p:nvPicPr>
          <p:cNvPr id="4" name="内容占位符 3"/>
          <p:cNvPicPr>
            <a:picLocks noChangeAspect="1"/>
          </p:cNvPicPr>
          <p:nvPr>
            <p:ph idx="1"/>
          </p:nvPr>
        </p:nvPicPr>
        <p:blipFill>
          <a:blip r:embed="rId1"/>
          <a:srcRect l="3940" t="58883" r="10283" b="8653"/>
          <a:stretch>
            <a:fillRect/>
          </a:stretch>
        </p:blipFill>
        <p:spPr>
          <a:xfrm>
            <a:off x="288290" y="4072890"/>
            <a:ext cx="10554970" cy="2785110"/>
          </a:xfrm>
          <a:prstGeom prst="rect">
            <a:avLst/>
          </a:prstGeom>
        </p:spPr>
      </p:pic>
      <p:sp>
        <p:nvSpPr>
          <p:cNvPr id="5" name="文本框 4"/>
          <p:cNvSpPr txBox="1"/>
          <p:nvPr/>
        </p:nvSpPr>
        <p:spPr>
          <a:xfrm>
            <a:off x="873760" y="1377315"/>
            <a:ext cx="7347585" cy="368300"/>
          </a:xfrm>
          <a:prstGeom prst="rect">
            <a:avLst/>
          </a:prstGeom>
          <a:noFill/>
        </p:spPr>
        <p:txBody>
          <a:bodyPr wrap="square" rtlCol="0">
            <a:spAutoFit/>
          </a:bodyPr>
          <a:p>
            <a:r>
              <a:rPr lang="zh-CN" altLang="en-US"/>
              <a:t>核心在于让</a:t>
            </a:r>
            <a:r>
              <a:rPr lang="en-US" altLang="zh-CN"/>
              <a:t>m</a:t>
            </a:r>
            <a:r>
              <a:rPr lang="zh-CN" altLang="en-US"/>
              <a:t>左半</a:t>
            </a:r>
            <a:r>
              <a:rPr lang="en-US" altLang="zh-CN"/>
              <a:t>x=m</a:t>
            </a:r>
            <a:r>
              <a:rPr lang="zh-CN" altLang="en-US"/>
              <a:t>右半</a:t>
            </a:r>
            <a:r>
              <a:rPr lang="en-US" altLang="zh-CN"/>
              <a:t>x   m</a:t>
            </a:r>
            <a:r>
              <a:rPr lang="zh-CN" altLang="en-US"/>
              <a:t>左半</a:t>
            </a:r>
            <a:r>
              <a:rPr lang="en-US" altLang="zh-CN"/>
              <a:t>z=m</a:t>
            </a:r>
            <a:r>
              <a:rPr lang="zh-CN" altLang="en-US"/>
              <a:t>右半</a:t>
            </a:r>
            <a:r>
              <a:rPr lang="en-US" altLang="zh-CN"/>
              <a:t>x   </a:t>
            </a:r>
            <a:endParaRPr lang="en-US" altLang="zh-CN"/>
          </a:p>
        </p:txBody>
      </p:sp>
      <p:pic>
        <p:nvPicPr>
          <p:cNvPr id="6" name="图片 5"/>
          <p:cNvPicPr>
            <a:picLocks noChangeAspect="1"/>
          </p:cNvPicPr>
          <p:nvPr/>
        </p:nvPicPr>
        <p:blipFill>
          <a:blip r:embed="rId1"/>
          <a:srcRect l="4776" t="36242" r="23228" b="42367"/>
          <a:stretch>
            <a:fillRect/>
          </a:stretch>
        </p:blipFill>
        <p:spPr>
          <a:xfrm>
            <a:off x="608330" y="1809115"/>
            <a:ext cx="10916920" cy="2263775"/>
          </a:xfrm>
          <a:prstGeom prst="rect">
            <a:avLst/>
          </a:prstGeom>
        </p:spPr>
      </p:pic>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目录</a:t>
            </a:r>
            <a:endParaRPr lang="zh-CN" altLang="en-US"/>
          </a:p>
        </p:txBody>
      </p:sp>
      <p:sp>
        <p:nvSpPr>
          <p:cNvPr id="3" name="内容占位符 2"/>
          <p:cNvSpPr>
            <a:spLocks noGrp="1"/>
          </p:cNvSpPr>
          <p:nvPr>
            <p:ph idx="1"/>
          </p:nvPr>
        </p:nvSpPr>
        <p:spPr/>
        <p:txBody>
          <a:bodyPr/>
          <a:p>
            <a:r>
              <a:rPr lang="zh-CN" altLang="en-US"/>
              <a:t>总体思路</a:t>
            </a:r>
            <a:endParaRPr lang="zh-CN" altLang="en-US"/>
          </a:p>
          <a:p>
            <a:r>
              <a:rPr lang="zh-CN" altLang="en-US"/>
              <a:t>液面倾斜对浮心深度和重心高度的影响</a:t>
            </a:r>
            <a:r>
              <a:rPr lang="en-US" altLang="zh-CN"/>
              <a:t>1</a:t>
            </a:r>
            <a:endParaRPr lang="zh-CN" altLang="en-US"/>
          </a:p>
          <a:p>
            <a:r>
              <a:rPr lang="zh-CN" altLang="en-US"/>
              <a:t>小试牛刀（截面浮心的计算）</a:t>
            </a:r>
            <a:r>
              <a:rPr lang="en-US" altLang="zh-CN"/>
              <a:t>2</a:t>
            </a:r>
            <a:endParaRPr lang="zh-CN" altLang="en-US"/>
          </a:p>
          <a:p>
            <a:r>
              <a:rPr lang="zh-CN" altLang="en-US">
                <a:highlight>
                  <a:srgbClr val="FFFF00"/>
                </a:highlight>
              </a:rPr>
              <a:t>船体浮心的计算</a:t>
            </a:r>
            <a:r>
              <a:rPr lang="en-US" altLang="zh-CN"/>
              <a:t>3</a:t>
            </a:r>
            <a:endParaRPr lang="zh-CN" altLang="en-US"/>
          </a:p>
          <a:p>
            <a:r>
              <a:rPr lang="zh-CN" altLang="en-US">
                <a:sym typeface="+mn-ea"/>
              </a:rPr>
              <a:t>船体总质量的计算</a:t>
            </a:r>
            <a:r>
              <a:rPr lang="en-US" altLang="zh-CN">
                <a:sym typeface="+mn-ea"/>
              </a:rPr>
              <a:t>4</a:t>
            </a:r>
            <a:endParaRPr lang="zh-CN" altLang="en-US"/>
          </a:p>
          <a:p>
            <a:r>
              <a:rPr lang="zh-CN" altLang="en-US"/>
              <a:t>船体吃水深度</a:t>
            </a:r>
            <a:r>
              <a:rPr lang="en-US" altLang="zh-CN"/>
              <a:t>H</a:t>
            </a:r>
            <a:r>
              <a:rPr lang="zh-CN" altLang="en-US"/>
              <a:t>的计算</a:t>
            </a:r>
            <a:r>
              <a:rPr lang="en-US" altLang="zh-CN"/>
              <a:t>5</a:t>
            </a:r>
            <a:endParaRPr lang="en-US" altLang="zh-CN"/>
          </a:p>
          <a:p>
            <a:r>
              <a:rPr lang="zh-CN" altLang="en-US"/>
              <a:t>用</a:t>
            </a:r>
            <a:r>
              <a:rPr lang="en-US" altLang="zh-CN"/>
              <a:t>3</a:t>
            </a:r>
            <a:r>
              <a:rPr lang="zh-CN" altLang="en-US"/>
              <a:t>解决一些</a:t>
            </a:r>
            <a:r>
              <a:rPr lang="zh-CN" altLang="en-US"/>
              <a:t>问题</a:t>
            </a:r>
            <a:endParaRPr lang="zh-CN" altLang="en-US"/>
          </a:p>
          <a:p>
            <a:endParaRPr lang="zh-CN" altLang="en-US"/>
          </a:p>
          <a:p>
            <a:pPr marL="0" indent="0">
              <a:buNone/>
            </a:pPr>
            <a:endParaRPr lang="zh-CN" altLang="en-US"/>
          </a:p>
        </p:txBody>
      </p:sp>
      <p:pic>
        <p:nvPicPr>
          <p:cNvPr id="4" name="图片 3" descr="01930-293855864-Create an image of a majestic sailing ship from the golden age of exploration. The ship should be a large galleon with three mas"/>
          <p:cNvPicPr>
            <a:picLocks noChangeAspect="1"/>
          </p:cNvPicPr>
          <p:nvPr/>
        </p:nvPicPr>
        <p:blipFill>
          <a:blip r:embed="rId1"/>
          <a:stretch>
            <a:fillRect/>
          </a:stretch>
        </p:blipFill>
        <p:spPr>
          <a:xfrm>
            <a:off x="6577330" y="2498725"/>
            <a:ext cx="4999990" cy="3750945"/>
          </a:xfrm>
          <a:prstGeom prst="rect">
            <a:avLst/>
          </a:prstGeom>
        </p:spPr>
      </p:pic>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船体浮心的计算</a:t>
            </a:r>
            <a:endParaRPr lang="zh-CN" altLang="en-US">
              <a:sym typeface="+mn-ea"/>
            </a:endParaRPr>
          </a:p>
        </p:txBody>
      </p:sp>
      <p:sp>
        <p:nvSpPr>
          <p:cNvPr id="5" name="内容占位符 4"/>
          <p:cNvSpPr/>
          <p:nvPr>
            <p:ph idx="1"/>
          </p:nvPr>
        </p:nvSpPr>
        <p:spPr/>
        <p:txBody>
          <a:bodyPr/>
          <a:p>
            <a:r>
              <a:rPr lang="en-US" altLang="zh-CN"/>
              <a:t>1.</a:t>
            </a:r>
            <a:r>
              <a:rPr lang="zh-CN" altLang="en-US"/>
              <a:t>液面修正</a:t>
            </a:r>
            <a:r>
              <a:rPr lang="en-US" altLang="zh-CN"/>
              <a:t>  </a:t>
            </a:r>
            <a:r>
              <a:rPr lang="zh-CN" altLang="en-US"/>
              <a:t>由于左右体积不同，围绕液心形成的体积变化不是</a:t>
            </a:r>
            <a:r>
              <a:rPr lang="en-US" altLang="zh-CN"/>
              <a:t>0</a:t>
            </a:r>
            <a:r>
              <a:rPr lang="zh-CN" altLang="en-US"/>
              <a:t>，所以液面会有高低</a:t>
            </a:r>
            <a:r>
              <a:rPr lang="zh-CN" altLang="en-US"/>
              <a:t>变化</a:t>
            </a:r>
            <a:endParaRPr lang="zh-CN" altLang="en-US"/>
          </a:p>
          <a:p>
            <a:endParaRPr lang="zh-CN" altLang="en-US"/>
          </a:p>
        </p:txBody>
      </p:sp>
      <p:pic>
        <p:nvPicPr>
          <p:cNvPr id="6" name="图片 5"/>
          <p:cNvPicPr>
            <a:picLocks noChangeAspect="1"/>
          </p:cNvPicPr>
          <p:nvPr/>
        </p:nvPicPr>
        <p:blipFill>
          <a:blip r:embed="rId1"/>
          <a:srcRect l="69938" t="4375" r="2451" b="49281"/>
          <a:stretch>
            <a:fillRect/>
          </a:stretch>
        </p:blipFill>
        <p:spPr>
          <a:xfrm>
            <a:off x="8698230" y="2934970"/>
            <a:ext cx="3397885" cy="3766820"/>
          </a:xfrm>
          <a:prstGeom prst="rect">
            <a:avLst/>
          </a:prstGeom>
        </p:spPr>
      </p:pic>
      <p:pic>
        <p:nvPicPr>
          <p:cNvPr id="4" name="图片 3"/>
          <p:cNvPicPr>
            <a:picLocks noChangeAspect="1"/>
          </p:cNvPicPr>
          <p:nvPr/>
        </p:nvPicPr>
        <p:blipFill>
          <a:blip r:embed="rId1"/>
          <a:srcRect l="59582" t="51633" r="1909" b="5094"/>
          <a:stretch>
            <a:fillRect/>
          </a:stretch>
        </p:blipFill>
        <p:spPr>
          <a:xfrm>
            <a:off x="808990" y="2191385"/>
            <a:ext cx="6050280" cy="4490720"/>
          </a:xfrm>
          <a:prstGeom prst="rect">
            <a:avLst/>
          </a:prstGeom>
        </p:spPr>
      </p:pic>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船体浮心的计算</a:t>
            </a:r>
            <a:endParaRPr lang="zh-CN" altLang="en-US"/>
          </a:p>
        </p:txBody>
      </p:sp>
      <p:sp>
        <p:nvSpPr>
          <p:cNvPr id="3" name="内容占位符 2"/>
          <p:cNvSpPr>
            <a:spLocks noGrp="1"/>
          </p:cNvSpPr>
          <p:nvPr>
            <p:ph idx="1"/>
          </p:nvPr>
        </p:nvSpPr>
        <p:spPr/>
        <p:txBody>
          <a:bodyPr/>
          <a:p>
            <a:r>
              <a:rPr lang="en-US" altLang="zh-CN">
                <a:sym typeface="+mn-ea"/>
              </a:rPr>
              <a:t>1.</a:t>
            </a:r>
            <a:r>
              <a:rPr lang="zh-CN" altLang="en-US">
                <a:sym typeface="+mn-ea"/>
              </a:rPr>
              <a:t>液面修正结果</a:t>
            </a:r>
            <a:endParaRPr lang="zh-CN" altLang="en-US">
              <a:sym typeface="+mn-ea"/>
            </a:endParaRPr>
          </a:p>
        </p:txBody>
      </p:sp>
      <p:pic>
        <p:nvPicPr>
          <p:cNvPr id="4" name="图片 3"/>
          <p:cNvPicPr>
            <a:picLocks noChangeAspect="1"/>
          </p:cNvPicPr>
          <p:nvPr/>
        </p:nvPicPr>
        <p:blipFill>
          <a:blip r:embed="rId1"/>
          <a:srcRect l="12699" t="59781" r="39469" b="3000"/>
          <a:stretch>
            <a:fillRect/>
          </a:stretch>
        </p:blipFill>
        <p:spPr>
          <a:xfrm>
            <a:off x="564515" y="2024380"/>
            <a:ext cx="8848725" cy="4547235"/>
          </a:xfrm>
          <a:prstGeom prst="rect">
            <a:avLst/>
          </a:prstGeom>
        </p:spPr>
      </p:pic>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船体浮心的计算</a:t>
            </a:r>
            <a:endParaRPr lang="zh-CN" altLang="en-US"/>
          </a:p>
        </p:txBody>
      </p:sp>
      <p:sp>
        <p:nvSpPr>
          <p:cNvPr id="3" name="内容占位符 2"/>
          <p:cNvSpPr>
            <a:spLocks noGrp="1"/>
          </p:cNvSpPr>
          <p:nvPr>
            <p:ph idx="1"/>
          </p:nvPr>
        </p:nvSpPr>
        <p:spPr>
          <a:xfrm>
            <a:off x="608330" y="1490345"/>
            <a:ext cx="10968990" cy="5188585"/>
          </a:xfrm>
        </p:spPr>
        <p:txBody>
          <a:bodyPr>
            <a:normAutofit lnSpcReduction="10000"/>
          </a:bodyPr>
          <a:p>
            <a:r>
              <a:rPr lang="zh-CN" altLang="en-US"/>
              <a:t>有了液面修正以后就可以计算浮心位置</a:t>
            </a:r>
            <a:r>
              <a:rPr lang="zh-CN" altLang="en-US"/>
              <a:t>了</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pPr marL="0" indent="0">
              <a:buNone/>
            </a:pPr>
            <a:endParaRPr lang="zh-CN" altLang="en-US"/>
          </a:p>
          <a:p>
            <a:pPr marL="0" indent="0">
              <a:buNone/>
            </a:pPr>
            <a:r>
              <a:rPr lang="zh-CN" altLang="en-US"/>
              <a:t>由上面两个微分方程求出</a:t>
            </a:r>
            <a:r>
              <a:rPr lang="en-US" altLang="zh-CN"/>
              <a:t>f1x</a:t>
            </a:r>
            <a:r>
              <a:rPr lang="zh-CN" altLang="en-US"/>
              <a:t>和</a:t>
            </a:r>
            <a:r>
              <a:rPr lang="en-US" altLang="zh-CN"/>
              <a:t>f1z</a:t>
            </a:r>
            <a:r>
              <a:rPr lang="zh-CN" altLang="en-US"/>
              <a:t>（式子来源见</a:t>
            </a:r>
            <a:r>
              <a:rPr lang="zh-CN" altLang="en-US"/>
              <a:t>报告）</a:t>
            </a:r>
            <a:endParaRPr lang="zh-CN" altLang="en-US"/>
          </a:p>
        </p:txBody>
      </p:sp>
      <p:pic>
        <p:nvPicPr>
          <p:cNvPr id="4" name="图片 3"/>
          <p:cNvPicPr>
            <a:picLocks noChangeAspect="1"/>
          </p:cNvPicPr>
          <p:nvPr/>
        </p:nvPicPr>
        <p:blipFill>
          <a:blip r:embed="rId1"/>
          <a:srcRect l="6213" t="69507" r="1857" b="12275"/>
          <a:stretch>
            <a:fillRect/>
          </a:stretch>
        </p:blipFill>
        <p:spPr>
          <a:xfrm>
            <a:off x="0" y="1983740"/>
            <a:ext cx="12038330" cy="1701800"/>
          </a:xfrm>
          <a:prstGeom prst="rect">
            <a:avLst/>
          </a:prstGeom>
        </p:spPr>
      </p:pic>
      <p:pic>
        <p:nvPicPr>
          <p:cNvPr id="6" name="图片 5"/>
          <p:cNvPicPr>
            <a:picLocks noChangeAspect="1"/>
          </p:cNvPicPr>
          <p:nvPr/>
        </p:nvPicPr>
        <p:blipFill>
          <a:blip r:embed="rId2"/>
          <a:srcRect l="4735" t="69969" r="-673" b="3800"/>
          <a:stretch>
            <a:fillRect/>
          </a:stretch>
        </p:blipFill>
        <p:spPr>
          <a:xfrm>
            <a:off x="319405" y="3685540"/>
            <a:ext cx="11050905" cy="2130425"/>
          </a:xfrm>
          <a:prstGeom prst="rect">
            <a:avLst/>
          </a:prstGeom>
        </p:spPr>
      </p:pic>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船体浮心的计算</a:t>
            </a:r>
            <a:endParaRPr lang="zh-CN" altLang="en-US"/>
          </a:p>
        </p:txBody>
      </p:sp>
      <p:sp>
        <p:nvSpPr>
          <p:cNvPr id="3" name="内容占位符 2"/>
          <p:cNvSpPr>
            <a:spLocks noGrp="1"/>
          </p:cNvSpPr>
          <p:nvPr>
            <p:ph idx="1"/>
          </p:nvPr>
        </p:nvSpPr>
        <p:spPr/>
        <p:txBody>
          <a:bodyPr/>
          <a:p>
            <a:r>
              <a:rPr lang="zh-CN" altLang="en-US"/>
              <a:t>得到偏转一定角度以后的浮心位置可以知道其与液面的</a:t>
            </a:r>
            <a:r>
              <a:rPr lang="zh-CN" altLang="en-US"/>
              <a:t>距离</a:t>
            </a:r>
            <a:endParaRPr lang="zh-CN" altLang="en-US"/>
          </a:p>
          <a:p>
            <a:endParaRPr lang="zh-CN" altLang="en-US"/>
          </a:p>
          <a:p>
            <a:endParaRPr lang="zh-CN" altLang="en-US"/>
          </a:p>
          <a:p>
            <a:endParaRPr lang="zh-CN" altLang="en-US"/>
          </a:p>
          <a:p>
            <a:r>
              <a:rPr lang="zh-CN" altLang="en-US"/>
              <a:t>这样就可以从船体的方程求复原力矩与偏转角度的</a:t>
            </a:r>
            <a:r>
              <a:rPr lang="zh-CN" altLang="en-US"/>
              <a:t>关系</a:t>
            </a:r>
            <a:endParaRPr lang="zh-CN" altLang="en-US"/>
          </a:p>
        </p:txBody>
      </p:sp>
      <p:pic>
        <p:nvPicPr>
          <p:cNvPr id="4" name="图片 3"/>
          <p:cNvPicPr>
            <a:picLocks noChangeAspect="1"/>
          </p:cNvPicPr>
          <p:nvPr/>
        </p:nvPicPr>
        <p:blipFill>
          <a:blip r:embed="rId1"/>
          <a:srcRect l="87076" t="11443" r="3213" b="26449"/>
          <a:stretch>
            <a:fillRect/>
          </a:stretch>
        </p:blipFill>
        <p:spPr>
          <a:xfrm rot="16200000">
            <a:off x="5116830" y="-1703705"/>
            <a:ext cx="1010920" cy="9038590"/>
          </a:xfrm>
          <a:prstGeom prst="rect">
            <a:avLst/>
          </a:prstGeom>
        </p:spPr>
      </p:pic>
      <p:pic>
        <p:nvPicPr>
          <p:cNvPr id="5" name="图片 4"/>
          <p:cNvPicPr>
            <a:picLocks noChangeAspect="1"/>
          </p:cNvPicPr>
          <p:nvPr/>
        </p:nvPicPr>
        <p:blipFill>
          <a:blip r:embed="rId1"/>
          <a:srcRect l="69289" t="19922" r="22635" b="10917"/>
          <a:stretch>
            <a:fillRect/>
          </a:stretch>
        </p:blipFill>
        <p:spPr>
          <a:xfrm rot="16200000">
            <a:off x="5631180" y="-210820"/>
            <a:ext cx="825500" cy="9881870"/>
          </a:xfrm>
          <a:prstGeom prst="rect">
            <a:avLst/>
          </a:prstGeom>
        </p:spPr>
      </p:pic>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0" y="66675"/>
            <a:ext cx="5556250" cy="6462395"/>
          </a:xfrm>
          <a:prstGeom prst="rect">
            <a:avLst/>
          </a:prstGeom>
          <a:noFill/>
        </p:spPr>
        <p:txBody>
          <a:bodyPr wrap="square" rtlCol="0">
            <a:spAutoFit/>
          </a:bodyPr>
          <a:p>
            <a:r>
              <a:rPr lang="zh-CN" altLang="en-US"/>
              <a:t>Density=1.6;%面密度</a:t>
            </a:r>
            <a:endParaRPr lang="zh-CN" altLang="en-US"/>
          </a:p>
          <a:p>
            <a:r>
              <a:rPr lang="zh-CN" altLang="en-US"/>
              <a:t>RT=[];</a:t>
            </a:r>
            <a:endParaRPr lang="zh-CN" altLang="en-US"/>
          </a:p>
          <a:p>
            <a:r>
              <a:rPr lang="zh-CN" altLang="en-US"/>
              <a:t>Angle=[];</a:t>
            </a:r>
            <a:endParaRPr lang="zh-CN" altLang="en-US"/>
          </a:p>
          <a:p>
            <a:r>
              <a:rPr lang="zh-CN" altLang="en-US"/>
              <a:t>for H=0.12</a:t>
            </a:r>
            <a:endParaRPr lang="zh-CN" altLang="en-US"/>
          </a:p>
          <a:p>
            <a:r>
              <a:rPr lang="zh-CN" altLang="en-US"/>
              <a:t>for A=17.6</a:t>
            </a:r>
            <a:endParaRPr lang="zh-CN" altLang="en-US"/>
          </a:p>
          <a:p>
            <a:r>
              <a:rPr lang="zh-CN" altLang="en-US"/>
              <a:t>for B=3.2</a:t>
            </a:r>
            <a:endParaRPr lang="zh-CN" altLang="en-US"/>
          </a:p>
          <a:p>
            <a:r>
              <a:rPr lang="zh-CN" altLang="en-US"/>
              <a:t>%船长一半------------------------------------------------</a:t>
            </a:r>
            <a:endParaRPr lang="zh-CN" altLang="en-US"/>
          </a:p>
          <a:p>
            <a:r>
              <a:rPr lang="zh-CN" altLang="en-US"/>
              <a:t>Y_MAX=sqrt(H./B);</a:t>
            </a:r>
            <a:endParaRPr lang="zh-CN" altLang="en-US"/>
          </a:p>
          <a:p>
            <a:r>
              <a:rPr lang="zh-CN" altLang="en-US"/>
              <a:t>%船宽一半------------------------------------------------</a:t>
            </a:r>
            <a:endParaRPr lang="zh-CN" altLang="en-US"/>
          </a:p>
          <a:p>
            <a:r>
              <a:rPr lang="zh-CN" altLang="en-US"/>
              <a:t>X_MAX=sqrt(H./A);</a:t>
            </a:r>
            <a:endParaRPr lang="zh-CN" altLang="en-US"/>
          </a:p>
          <a:p>
            <a:r>
              <a:rPr lang="zh-CN" altLang="en-US"/>
              <a:t>%船体质量------------------------------------------------</a:t>
            </a:r>
            <a:endParaRPr lang="zh-CN" altLang="en-US"/>
          </a:p>
          <a:p>
            <a:r>
              <a:rPr lang="zh-CN" altLang="en-US"/>
              <a:t>M=boat_Quality(A,B,H,Density);</a:t>
            </a:r>
            <a:endParaRPr lang="zh-CN" altLang="en-US"/>
          </a:p>
          <a:p>
            <a:r>
              <a:rPr lang="zh-CN" altLang="en-US"/>
              <a:t>%船体重心------------------------------------------------center_gravity=boat_COM(A,B,H,Density);</a:t>
            </a:r>
            <a:endParaRPr lang="zh-CN" altLang="en-US"/>
          </a:p>
          <a:p>
            <a:r>
              <a:rPr lang="zh-CN" altLang="en-US"/>
              <a:t>%平吃水线-------------------------------------------------</a:t>
            </a:r>
            <a:endParaRPr lang="zh-CN" altLang="en-US"/>
          </a:p>
          <a:p>
            <a:r>
              <a:rPr lang="zh-CN" altLang="en-US"/>
              <a:t>Water_density=1000;%水密度</a:t>
            </a:r>
            <a:endParaRPr lang="zh-CN" altLang="en-US"/>
          </a:p>
          <a:p>
            <a:r>
              <a:rPr lang="zh-CN" altLang="en-US"/>
              <a:t>waterline=Waterline(A,B,H,Water_density,M);</a:t>
            </a:r>
            <a:endParaRPr lang="zh-CN" altLang="en-US"/>
          </a:p>
          <a:p>
            <a:r>
              <a:rPr lang="zh-CN" altLang="en-US"/>
              <a:t>%复原力矩-------------------------------------------------</a:t>
            </a:r>
            <a:endParaRPr lang="zh-CN" altLang="en-US"/>
          </a:p>
          <a:p>
            <a:r>
              <a:rPr lang="zh-CN" altLang="en-US"/>
              <a:t>for angle=91:1:180</a:t>
            </a:r>
            <a:endParaRPr lang="zh-CN" altLang="en-US"/>
          </a:p>
          <a:p>
            <a:r>
              <a:rPr lang="zh-CN" altLang="en-US"/>
              <a:t>%135吃水线-----------------------------------------------c=Waterline_135(A,B,H,X_MAX,M,angle);</a:t>
            </a:r>
            <a:endParaRPr lang="zh-CN" altLang="en-US"/>
          </a:p>
          <a:p>
            <a:r>
              <a:rPr lang="zh-CN" altLang="en-US"/>
              <a:t>if c==-5%如果没求出135吃水线的c就跳过</a:t>
            </a:r>
            <a:endParaRPr lang="zh-CN" altLang="en-US"/>
          </a:p>
          <a:p>
            <a:endParaRPr lang="zh-CN" altLang="en-US"/>
          </a:p>
        </p:txBody>
      </p:sp>
      <p:sp>
        <p:nvSpPr>
          <p:cNvPr id="6" name="文本框 5"/>
          <p:cNvSpPr txBox="1"/>
          <p:nvPr/>
        </p:nvSpPr>
        <p:spPr>
          <a:xfrm>
            <a:off x="5147945" y="66675"/>
            <a:ext cx="6734175" cy="5077460"/>
          </a:xfrm>
          <a:prstGeom prst="rect">
            <a:avLst/>
          </a:prstGeom>
          <a:noFill/>
        </p:spPr>
        <p:txBody>
          <a:bodyPr wrap="square" rtlCol="0">
            <a:spAutoFit/>
          </a:bodyPr>
          <a:p>
            <a:r>
              <a:rPr lang="zh-CN" altLang="en-US">
                <a:sym typeface="+mn-ea"/>
              </a:rPr>
              <a:t>continue;</a:t>
            </a:r>
            <a:endParaRPr lang="zh-CN" altLang="en-US"/>
          </a:p>
          <a:p>
            <a:r>
              <a:rPr lang="zh-CN" altLang="en-US">
                <a:sym typeface="+mn-ea"/>
              </a:rPr>
              <a:t>end</a:t>
            </a:r>
            <a:endParaRPr lang="zh-CN" altLang="en-US"/>
          </a:p>
          <a:p>
            <a:r>
              <a:rPr lang="zh-CN" altLang="en-US">
                <a:sym typeface="+mn-ea"/>
              </a:rPr>
              <a:t>%浮心----------------------------------------------------------------------------</a:t>
            </a:r>
            <a:endParaRPr lang="zh-CN" altLang="en-US"/>
          </a:p>
          <a:p>
            <a:r>
              <a:rPr lang="zh-CN" altLang="en-US">
                <a:sym typeface="+mn-ea"/>
              </a:rPr>
              <a:t>cob=COB(A,B,H,X_MAX,c,angle);</a:t>
            </a:r>
            <a:endParaRPr lang="zh-CN" altLang="en-US"/>
          </a:p>
          <a:p>
            <a:r>
              <a:rPr lang="zh-CN" altLang="en-US">
                <a:sym typeface="+mn-ea"/>
              </a:rPr>
              <a:t>%重心-----------------------------------------------------------------------------</a:t>
            </a:r>
            <a:endParaRPr lang="zh-CN" altLang="en-US"/>
          </a:p>
          <a:p>
            <a:r>
              <a:rPr lang="zh-CN" altLang="en-US">
                <a:sym typeface="+mn-ea"/>
              </a:rPr>
              <a:t>com=[0 0 center_gravity];</a:t>
            </a:r>
            <a:endParaRPr lang="zh-CN" altLang="en-US"/>
          </a:p>
          <a:p>
            <a:r>
              <a:rPr lang="zh-CN" altLang="en-US">
                <a:sym typeface="+mn-ea"/>
              </a:rPr>
              <a:t>Angle(end+1)=angle;</a:t>
            </a:r>
            <a:endParaRPr lang="zh-CN" altLang="en-US"/>
          </a:p>
          <a:p>
            <a:r>
              <a:rPr lang="zh-CN" altLang="en-US">
                <a:sym typeface="+mn-ea"/>
              </a:rPr>
              <a:t>RT(end+1)=Recovery_Torque(com,cob,angle,9.8,M);</a:t>
            </a:r>
            <a:endParaRPr lang="zh-CN" altLang="en-US"/>
          </a:p>
          <a:p>
            <a:r>
              <a:rPr lang="zh-CN" altLang="en-US">
                <a:sym typeface="+mn-ea"/>
              </a:rPr>
              <a:t>end</a:t>
            </a:r>
            <a:endParaRPr lang="zh-CN" altLang="en-US"/>
          </a:p>
          <a:p>
            <a:r>
              <a:rPr lang="zh-CN" altLang="en-US">
                <a:sym typeface="+mn-ea"/>
              </a:rPr>
              <a:t>end</a:t>
            </a:r>
            <a:endParaRPr lang="zh-CN" altLang="en-US"/>
          </a:p>
          <a:p>
            <a:r>
              <a:rPr lang="zh-CN" altLang="en-US">
                <a:sym typeface="+mn-ea"/>
              </a:rPr>
              <a:t>end</a:t>
            </a:r>
            <a:endParaRPr lang="zh-CN" altLang="en-US"/>
          </a:p>
          <a:p>
            <a:r>
              <a:rPr lang="zh-CN" altLang="en-US">
                <a:sym typeface="+mn-ea"/>
              </a:rPr>
              <a:t>end</a:t>
            </a:r>
            <a:endParaRPr lang="zh-CN" altLang="en-US"/>
          </a:p>
          <a:p>
            <a:r>
              <a:rPr lang="zh-CN" altLang="en-US">
                <a:sym typeface="+mn-ea"/>
              </a:rPr>
              <a:t>title('翻转角度与复原力矩的关系图');</a:t>
            </a:r>
            <a:endParaRPr lang="zh-CN" altLang="en-US"/>
          </a:p>
          <a:p>
            <a:r>
              <a:rPr lang="zh-CN" altLang="en-US">
                <a:sym typeface="+mn-ea"/>
              </a:rPr>
              <a:t>xlabel('翻转角度°');</a:t>
            </a:r>
            <a:endParaRPr lang="zh-CN" altLang="en-US"/>
          </a:p>
          <a:p>
            <a:r>
              <a:rPr lang="zh-CN" altLang="en-US">
                <a:sym typeface="+mn-ea"/>
              </a:rPr>
              <a:t>ylabel('复原力矩N-m');</a:t>
            </a:r>
            <a:endParaRPr lang="zh-CN" altLang="en-US"/>
          </a:p>
          <a:p>
            <a:r>
              <a:rPr lang="zh-CN" altLang="en-US">
                <a:sym typeface="+mn-ea"/>
              </a:rPr>
              <a:t>hold on</a:t>
            </a:r>
            <a:endParaRPr lang="zh-CN" altLang="en-US"/>
          </a:p>
          <a:p>
            <a:r>
              <a:rPr lang="zh-CN" altLang="en-US">
                <a:sym typeface="+mn-ea"/>
              </a:rPr>
              <a:t>plot(Angle,RT);</a:t>
            </a:r>
            <a:endParaRPr lang="zh-CN" altLang="en-US"/>
          </a:p>
          <a:p>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目录</a:t>
            </a:r>
            <a:endParaRPr lang="zh-CN" altLang="en-US"/>
          </a:p>
        </p:txBody>
      </p:sp>
      <p:sp>
        <p:nvSpPr>
          <p:cNvPr id="3" name="内容占位符 2"/>
          <p:cNvSpPr>
            <a:spLocks noGrp="1"/>
          </p:cNvSpPr>
          <p:nvPr>
            <p:ph idx="1"/>
          </p:nvPr>
        </p:nvSpPr>
        <p:spPr/>
        <p:txBody>
          <a:bodyPr/>
          <a:p>
            <a:r>
              <a:rPr lang="zh-CN" altLang="en-US"/>
              <a:t>总体思路</a:t>
            </a:r>
            <a:endParaRPr lang="zh-CN" altLang="en-US"/>
          </a:p>
          <a:p>
            <a:r>
              <a:rPr lang="zh-CN" altLang="en-US"/>
              <a:t>液面倾斜对浮心深度和重心高度的影响</a:t>
            </a:r>
            <a:r>
              <a:rPr lang="en-US" altLang="zh-CN"/>
              <a:t>1</a:t>
            </a:r>
            <a:endParaRPr lang="zh-CN" altLang="en-US"/>
          </a:p>
          <a:p>
            <a:r>
              <a:rPr lang="zh-CN" altLang="en-US"/>
              <a:t>小试牛刀（截面浮心的计算）</a:t>
            </a:r>
            <a:r>
              <a:rPr lang="en-US" altLang="zh-CN"/>
              <a:t>2</a:t>
            </a:r>
            <a:endParaRPr lang="zh-CN" altLang="en-US"/>
          </a:p>
          <a:p>
            <a:r>
              <a:rPr lang="zh-CN" altLang="en-US"/>
              <a:t>船体浮心的计算</a:t>
            </a:r>
            <a:r>
              <a:rPr lang="en-US" altLang="zh-CN"/>
              <a:t>3</a:t>
            </a:r>
            <a:endParaRPr lang="zh-CN" altLang="en-US"/>
          </a:p>
          <a:p>
            <a:r>
              <a:rPr lang="zh-CN" altLang="en-US">
                <a:highlight>
                  <a:srgbClr val="FFFF00"/>
                </a:highlight>
                <a:sym typeface="+mn-ea"/>
              </a:rPr>
              <a:t>船体总质量的计算</a:t>
            </a:r>
            <a:r>
              <a:rPr lang="en-US" altLang="zh-CN">
                <a:sym typeface="+mn-ea"/>
              </a:rPr>
              <a:t>4</a:t>
            </a:r>
            <a:endParaRPr lang="zh-CN" altLang="en-US"/>
          </a:p>
          <a:p>
            <a:r>
              <a:rPr lang="zh-CN" altLang="en-US"/>
              <a:t>船体吃水深度</a:t>
            </a:r>
            <a:r>
              <a:rPr lang="en-US" altLang="zh-CN"/>
              <a:t>H</a:t>
            </a:r>
            <a:r>
              <a:rPr lang="zh-CN" altLang="en-US"/>
              <a:t>的计算</a:t>
            </a:r>
            <a:r>
              <a:rPr lang="en-US" altLang="zh-CN"/>
              <a:t>5</a:t>
            </a:r>
            <a:endParaRPr lang="en-US" altLang="zh-CN"/>
          </a:p>
          <a:p>
            <a:r>
              <a:rPr lang="zh-CN" altLang="en-US"/>
              <a:t>用</a:t>
            </a:r>
            <a:r>
              <a:rPr lang="en-US" altLang="zh-CN"/>
              <a:t>3</a:t>
            </a:r>
            <a:r>
              <a:rPr lang="zh-CN" altLang="en-US"/>
              <a:t>解决一些</a:t>
            </a:r>
            <a:r>
              <a:rPr lang="zh-CN" altLang="en-US"/>
              <a:t>问题</a:t>
            </a:r>
            <a:endParaRPr lang="zh-CN" altLang="en-US"/>
          </a:p>
          <a:p>
            <a:endParaRPr lang="zh-CN" altLang="en-US"/>
          </a:p>
          <a:p>
            <a:pPr marL="0" indent="0">
              <a:buNone/>
            </a:pPr>
            <a:endParaRPr lang="zh-CN" altLang="en-US"/>
          </a:p>
        </p:txBody>
      </p:sp>
      <p:pic>
        <p:nvPicPr>
          <p:cNvPr id="4" name="图片 3" descr="01930-293855864-Create an image of a majestic sailing ship from the golden age of exploration. The ship should be a large galleon with three mas"/>
          <p:cNvPicPr>
            <a:picLocks noChangeAspect="1"/>
          </p:cNvPicPr>
          <p:nvPr/>
        </p:nvPicPr>
        <p:blipFill>
          <a:blip r:embed="rId1"/>
          <a:stretch>
            <a:fillRect/>
          </a:stretch>
        </p:blipFill>
        <p:spPr>
          <a:xfrm>
            <a:off x="6577330" y="2498725"/>
            <a:ext cx="4999990" cy="3750945"/>
          </a:xfrm>
          <a:prstGeom prst="rect">
            <a:avLst/>
          </a:prstGeom>
        </p:spPr>
      </p:pic>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船体总质量的计算</a:t>
            </a:r>
            <a:endParaRPr lang="zh-CN" altLang="en-US">
              <a:sym typeface="+mn-ea"/>
            </a:endParaRPr>
          </a:p>
        </p:txBody>
      </p:sp>
      <p:pic>
        <p:nvPicPr>
          <p:cNvPr id="4" name="内容占位符 3"/>
          <p:cNvPicPr>
            <a:picLocks noChangeAspect="1"/>
          </p:cNvPicPr>
          <p:nvPr>
            <p:ph idx="1"/>
          </p:nvPr>
        </p:nvPicPr>
        <p:blipFill>
          <a:blip r:embed="rId1"/>
          <a:stretch>
            <a:fillRect/>
          </a:stretch>
        </p:blipFill>
        <p:spPr>
          <a:xfrm>
            <a:off x="608330" y="1313815"/>
            <a:ext cx="5653405" cy="2477135"/>
          </a:xfrm>
          <a:prstGeom prst="rect">
            <a:avLst/>
          </a:prstGeom>
        </p:spPr>
      </p:pic>
      <p:pic>
        <p:nvPicPr>
          <p:cNvPr id="5" name="图片 4"/>
          <p:cNvPicPr>
            <a:picLocks noChangeAspect="1"/>
          </p:cNvPicPr>
          <p:nvPr/>
        </p:nvPicPr>
        <p:blipFill>
          <a:blip r:embed="rId2"/>
          <a:srcRect l="5921" t="447" r="31876" b="48644"/>
          <a:stretch>
            <a:fillRect/>
          </a:stretch>
        </p:blipFill>
        <p:spPr>
          <a:xfrm>
            <a:off x="608330" y="3790950"/>
            <a:ext cx="6520815" cy="2740660"/>
          </a:xfrm>
          <a:prstGeom prst="rect">
            <a:avLst/>
          </a:prstGeom>
        </p:spPr>
      </p:pic>
      <p:pic>
        <p:nvPicPr>
          <p:cNvPr id="6" name="图片 5"/>
          <p:cNvPicPr>
            <a:picLocks noChangeAspect="1"/>
          </p:cNvPicPr>
          <p:nvPr/>
        </p:nvPicPr>
        <p:blipFill>
          <a:blip r:embed="rId3"/>
          <a:srcRect l="5520" t="255" r="24971" b="68150"/>
          <a:stretch>
            <a:fillRect/>
          </a:stretch>
        </p:blipFill>
        <p:spPr>
          <a:xfrm>
            <a:off x="6561455" y="1313815"/>
            <a:ext cx="5389245" cy="1257935"/>
          </a:xfrm>
          <a:prstGeom prst="rect">
            <a:avLst/>
          </a:prstGeom>
        </p:spPr>
      </p:pic>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0" y="0"/>
            <a:ext cx="11410950" cy="6554470"/>
          </a:xfrm>
          <a:prstGeom prst="rect">
            <a:avLst/>
          </a:prstGeom>
          <a:noFill/>
        </p:spPr>
        <p:txBody>
          <a:bodyPr wrap="square" rtlCol="0">
            <a:spAutoFit/>
          </a:bodyPr>
          <a:p>
            <a:r>
              <a:rPr lang="zh-CN" altLang="en-US" sz="1400"/>
              <a:t>A=;</a:t>
            </a:r>
            <a:endParaRPr lang="zh-CN" altLang="en-US" sz="1400"/>
          </a:p>
          <a:p>
            <a:r>
              <a:rPr lang="zh-CN" altLang="en-US" sz="1400"/>
              <a:t>B=;</a:t>
            </a:r>
            <a:endParaRPr lang="zh-CN" altLang="en-US" sz="1400"/>
          </a:p>
          <a:p>
            <a:r>
              <a:rPr lang="zh-CN" altLang="en-US" sz="1400"/>
              <a:t>H=;</a:t>
            </a:r>
            <a:endParaRPr lang="zh-CN" altLang="en-US" sz="1400"/>
          </a:p>
          <a:p>
            <a:r>
              <a:rPr lang="zh-CN" altLang="en-US" sz="1400"/>
              <a:t>density=;%密度</a:t>
            </a:r>
            <a:endParaRPr lang="zh-CN" altLang="en-US" sz="1400"/>
          </a:p>
          <a:p>
            <a:r>
              <a:rPr lang="zh-CN" altLang="en-US" sz="1400"/>
              <a:t>Y_MAX=sqrt(H./B);%y轴上的最大值</a:t>
            </a:r>
            <a:endParaRPr lang="zh-CN" altLang="en-US" sz="1400"/>
          </a:p>
          <a:p>
            <a:r>
              <a:rPr lang="zh-CN" altLang="en-US" sz="1400"/>
              <a:t>Y1 = Y_max ./ 4;</a:t>
            </a:r>
            <a:endParaRPr lang="zh-CN" altLang="en-US" sz="1400"/>
          </a:p>
          <a:p>
            <a:r>
              <a:rPr lang="zh-CN" altLang="en-US" sz="1400"/>
              <a:t>Y2 = Y_max ./ 4 .* 2;</a:t>
            </a:r>
            <a:endParaRPr lang="zh-CN" altLang="en-US" sz="1400"/>
          </a:p>
          <a:p>
            <a:r>
              <a:rPr lang="zh-CN" altLang="en-US" sz="1400"/>
              <a:t>Y3 = Y_max ./ 4 .* 3;</a:t>
            </a:r>
            <a:endParaRPr lang="zh-CN" altLang="en-US" sz="1400"/>
          </a:p>
          <a:p>
            <a:r>
              <a:rPr lang="zh-CN" altLang="en-US" sz="1400"/>
              <a:t>Y4 = 0;</a:t>
            </a:r>
            <a:endParaRPr lang="zh-CN" altLang="en-US" sz="1400"/>
          </a:p>
          <a:p>
            <a:r>
              <a:rPr lang="zh-CN" altLang="en-US" sz="1400"/>
              <a:t>Y = [-Y3 -Y2 -Y1 Y4 Y1 Y2 Y3]; %定义七个肋骨的坐标</a:t>
            </a:r>
            <a:endParaRPr lang="zh-CN" altLang="en-US" sz="1400"/>
          </a:p>
          <a:p>
            <a:r>
              <a:rPr lang="zh-CN" altLang="en-US" sz="1400"/>
              <a:t>X=[];</a:t>
            </a:r>
            <a:endParaRPr lang="zh-CN" altLang="en-US" sz="1400"/>
          </a:p>
          <a:p>
            <a:r>
              <a:rPr lang="zh-CN" altLang="en-US" sz="1400"/>
              <a:t>Ans=[];</a:t>
            </a:r>
            <a:endParaRPr lang="zh-CN" altLang="en-US" sz="1400"/>
          </a:p>
          <a:p>
            <a:r>
              <a:rPr lang="zh-CN" altLang="en-US" sz="1400"/>
              <a:t>for m=0:0.01:1.3</a:t>
            </a:r>
            <a:endParaRPr lang="zh-CN" altLang="en-US" sz="1400"/>
          </a:p>
          <a:p>
            <a:r>
              <a:rPr lang="zh-CN" altLang="en-US" sz="1400"/>
              <a:t>Z_center_gravity=frame_Center_Gravity_Z(A,B,H,Y,density);%求出五块肋骨的重心在z轴的坐标返回数组</a:t>
            </a:r>
            <a:endParaRPr lang="zh-CN" altLang="en-US" sz="1400"/>
          </a:p>
          <a:p>
            <a:r>
              <a:rPr lang="zh-CN" altLang="en-US" sz="1400"/>
              <a:t>M=frame_Quality(A,B,H,Y,density);%求出五块肋骨重量返回数组</a:t>
            </a:r>
            <a:endParaRPr lang="zh-CN" altLang="en-US" sz="1400"/>
          </a:p>
          <a:p>
            <a:r>
              <a:rPr lang="zh-CN" altLang="en-US" sz="1400"/>
              <a:t>Z_center_gravity(end+1)=keel_Center_Gravity(Y_MAX,H,B,density);%求出龙骨面板的重心</a:t>
            </a:r>
            <a:endParaRPr lang="zh-CN" altLang="en-US" sz="1400"/>
          </a:p>
          <a:p>
            <a:r>
              <a:rPr lang="zh-CN" altLang="en-US" sz="1400"/>
              <a:t>M(end+1)=keel_Quality(Y_MAX,H,B,density);%求出龙骨面板的质量</a:t>
            </a:r>
            <a:endParaRPr lang="zh-CN" altLang="en-US" sz="1400"/>
          </a:p>
          <a:p>
            <a:r>
              <a:rPr lang="zh-CN" altLang="en-US" sz="1400"/>
              <a:t>Z_center_gravity(end+1)=0.3075;%桅杆的重心</a:t>
            </a:r>
            <a:endParaRPr lang="zh-CN" altLang="en-US" sz="1400"/>
          </a:p>
          <a:p>
            <a:r>
              <a:rPr lang="zh-CN" altLang="en-US" sz="1400"/>
              <a:t>M(end+1)=0.1058;%桅杆的质量</a:t>
            </a:r>
            <a:endParaRPr lang="zh-CN" altLang="en-US" sz="1400"/>
          </a:p>
          <a:p>
            <a:r>
              <a:rPr lang="zh-CN" altLang="en-US" sz="1400"/>
              <a:t>Z_center_gravity(end+1)=0.04;%重物的重心</a:t>
            </a:r>
            <a:endParaRPr lang="zh-CN" altLang="en-US" sz="1400"/>
          </a:p>
          <a:p>
            <a:r>
              <a:rPr lang="zh-CN" altLang="en-US" sz="1400"/>
              <a:t>M(end+1)=m;%重物的质量</a:t>
            </a:r>
            <a:endParaRPr lang="zh-CN" altLang="en-US" sz="1400"/>
          </a:p>
          <a:p>
            <a:r>
              <a:rPr lang="zh-CN" altLang="en-US" sz="1400"/>
              <a:t>COM=all_Middle_Gravity(Z_center_gravity,M);%船的重心</a:t>
            </a:r>
            <a:endParaRPr lang="zh-CN" altLang="en-US" sz="1400"/>
          </a:p>
          <a:p>
            <a:r>
              <a:rPr lang="zh-CN" altLang="en-US" sz="1400"/>
              <a:t>X(end+1)=m;</a:t>
            </a:r>
            <a:endParaRPr lang="zh-CN" altLang="en-US" sz="1400"/>
          </a:p>
          <a:p>
            <a:r>
              <a:rPr lang="zh-CN" altLang="en-US" sz="1400"/>
              <a:t>Ans(end+1)=COM;</a:t>
            </a:r>
            <a:endParaRPr lang="zh-CN" altLang="en-US" sz="1400"/>
          </a:p>
          <a:p>
            <a:r>
              <a:rPr lang="zh-CN" altLang="en-US" sz="1400"/>
              <a:t>end</a:t>
            </a:r>
            <a:endParaRPr lang="zh-CN" altLang="en-US" sz="1400"/>
          </a:p>
          <a:p>
            <a:r>
              <a:rPr lang="zh-CN" altLang="en-US" sz="1400"/>
              <a:t>title('重物质量与重心的关系图');</a:t>
            </a:r>
            <a:endParaRPr lang="zh-CN" altLang="en-US" sz="1400"/>
          </a:p>
          <a:p>
            <a:r>
              <a:rPr lang="zh-CN" altLang="en-US" sz="1400"/>
              <a:t>xlabel('重量kg');</a:t>
            </a:r>
            <a:endParaRPr lang="zh-CN" altLang="en-US" sz="1400"/>
          </a:p>
          <a:p>
            <a:r>
              <a:rPr lang="zh-CN" altLang="en-US" sz="1400"/>
              <a:t>ylabel('重心的z轴m');</a:t>
            </a:r>
            <a:endParaRPr lang="zh-CN" altLang="en-US" sz="1400"/>
          </a:p>
          <a:p>
            <a:r>
              <a:rPr lang="zh-CN" altLang="en-US" sz="1400"/>
              <a:t>hold on</a:t>
            </a:r>
            <a:endParaRPr lang="zh-CN" altLang="en-US" sz="1400"/>
          </a:p>
          <a:p>
            <a:r>
              <a:rPr lang="zh-CN" altLang="en-US" sz="1400"/>
              <a:t>plot(X,Ans);</a:t>
            </a:r>
            <a:endParaRPr lang="zh-CN" altLang="en-US" sz="1400"/>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船体总质量的计算</a:t>
            </a:r>
            <a:endParaRPr lang="zh-CN" altLang="en-US">
              <a:sym typeface="+mn-ea"/>
            </a:endParaRPr>
          </a:p>
        </p:txBody>
      </p:sp>
      <p:sp>
        <p:nvSpPr>
          <p:cNvPr id="3" name="内容占位符 2"/>
          <p:cNvSpPr>
            <a:spLocks noGrp="1"/>
          </p:cNvSpPr>
          <p:nvPr>
            <p:ph idx="1"/>
          </p:nvPr>
        </p:nvSpPr>
        <p:spPr/>
        <p:txBody>
          <a:bodyPr/>
          <a:p>
            <a:r>
              <a:rPr lang="zh-CN" altLang="en-US"/>
              <a:t>船体主要由</a:t>
            </a:r>
            <a:r>
              <a:rPr lang="zh-CN" altLang="en-US"/>
              <a:t>甲板，桅杆，重物，肋板，龙骨组成，除了以上组成，包括胶水塑料薄膜和孔洞的质量由于太小</a:t>
            </a:r>
            <a:r>
              <a:rPr lang="zh-CN" altLang="en-US"/>
              <a:t>忽略不计</a:t>
            </a:r>
            <a:endParaRPr lang="zh-CN" altLang="en-US"/>
          </a:p>
          <a:p>
            <a:r>
              <a:rPr lang="en-US" altLang="zh-CN"/>
              <a:t>1</a:t>
            </a:r>
            <a:r>
              <a:rPr lang="zh-CN" altLang="en-US"/>
              <a:t>桅杆和重物的质量无需计算，测量得到</a:t>
            </a:r>
            <a:r>
              <a:rPr lang="en-US" altLang="zh-CN"/>
              <a:t>105.8g</a:t>
            </a:r>
            <a:r>
              <a:rPr lang="zh-CN" altLang="en-US"/>
              <a:t>和</a:t>
            </a:r>
            <a:r>
              <a:rPr lang="en-US" altLang="zh-CN"/>
              <a:t>875.9</a:t>
            </a:r>
            <a:r>
              <a:rPr lang="en-US" altLang="zh-CN"/>
              <a:t>g</a:t>
            </a:r>
            <a:endParaRPr lang="en-US" altLang="zh-CN"/>
          </a:p>
          <a:p>
            <a:r>
              <a:rPr lang="en-US" altLang="zh-CN"/>
              <a:t>2</a:t>
            </a:r>
            <a:r>
              <a:rPr lang="zh-CN" altLang="en-US"/>
              <a:t>计算</a:t>
            </a:r>
            <a:r>
              <a:rPr lang="zh-CN" altLang="en-US"/>
              <a:t>甲板</a:t>
            </a:r>
            <a:endParaRPr lang="zh-CN" altLang="en-US"/>
          </a:p>
        </p:txBody>
      </p:sp>
      <p:pic>
        <p:nvPicPr>
          <p:cNvPr id="5" name="图片 4"/>
          <p:cNvPicPr>
            <a:picLocks noChangeAspect="1"/>
          </p:cNvPicPr>
          <p:nvPr/>
        </p:nvPicPr>
        <p:blipFill>
          <a:blip r:embed="rId1"/>
          <a:srcRect l="9719" t="28304" r="17563" b="50955"/>
          <a:stretch>
            <a:fillRect/>
          </a:stretch>
        </p:blipFill>
        <p:spPr>
          <a:xfrm>
            <a:off x="2355215" y="2919730"/>
            <a:ext cx="7699375" cy="3216910"/>
          </a:xfrm>
          <a:prstGeom prst="rect">
            <a:avLst/>
          </a:prstGeom>
        </p:spPr>
      </p:pic>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船体总质量的计算</a:t>
            </a:r>
            <a:endParaRPr lang="zh-CN" altLang="en-US"/>
          </a:p>
        </p:txBody>
      </p:sp>
      <p:sp>
        <p:nvSpPr>
          <p:cNvPr id="3" name="内容占位符 2"/>
          <p:cNvSpPr>
            <a:spLocks noGrp="1"/>
          </p:cNvSpPr>
          <p:nvPr>
            <p:ph idx="1"/>
          </p:nvPr>
        </p:nvSpPr>
        <p:spPr/>
        <p:txBody>
          <a:bodyPr/>
          <a:p>
            <a:r>
              <a:rPr lang="en-US" altLang="zh-CN"/>
              <a:t>2</a:t>
            </a:r>
            <a:r>
              <a:rPr lang="zh-CN" altLang="en-US"/>
              <a:t>计算</a:t>
            </a:r>
            <a:r>
              <a:rPr lang="zh-CN" altLang="en-US"/>
              <a:t>龙骨</a:t>
            </a:r>
            <a:endParaRPr lang="zh-CN" altLang="en-US"/>
          </a:p>
        </p:txBody>
      </p:sp>
      <p:pic>
        <p:nvPicPr>
          <p:cNvPr id="4" name="图片 3"/>
          <p:cNvPicPr>
            <a:picLocks noChangeAspect="1"/>
          </p:cNvPicPr>
          <p:nvPr/>
        </p:nvPicPr>
        <p:blipFill>
          <a:blip r:embed="rId1"/>
          <a:srcRect l="9898" t="47653" r="1156" b="31019"/>
          <a:stretch>
            <a:fillRect/>
          </a:stretch>
        </p:blipFill>
        <p:spPr>
          <a:xfrm>
            <a:off x="2399665" y="1490345"/>
            <a:ext cx="8348345" cy="2932430"/>
          </a:xfrm>
          <a:prstGeom prst="rect">
            <a:avLst/>
          </a:prstGeom>
        </p:spPr>
      </p:pic>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船体总质量的计算</a:t>
            </a:r>
            <a:endParaRPr lang="zh-CN" altLang="en-US"/>
          </a:p>
        </p:txBody>
      </p:sp>
      <p:sp>
        <p:nvSpPr>
          <p:cNvPr id="3" name="内容占位符 2"/>
          <p:cNvSpPr>
            <a:spLocks noGrp="1"/>
          </p:cNvSpPr>
          <p:nvPr>
            <p:ph idx="1"/>
          </p:nvPr>
        </p:nvSpPr>
        <p:spPr/>
        <p:txBody>
          <a:bodyPr/>
          <a:p>
            <a:r>
              <a:rPr lang="en-US" altLang="zh-CN"/>
              <a:t>3</a:t>
            </a:r>
            <a:r>
              <a:rPr lang="zh-CN" altLang="en-US"/>
              <a:t>计算肋板</a:t>
            </a:r>
            <a:endParaRPr lang="zh-CN" altLang="en-US"/>
          </a:p>
          <a:p>
            <a:endParaRPr lang="zh-CN" altLang="en-US"/>
          </a:p>
        </p:txBody>
      </p:sp>
      <p:pic>
        <p:nvPicPr>
          <p:cNvPr id="4" name="图片 3"/>
          <p:cNvPicPr>
            <a:picLocks noChangeAspect="1"/>
          </p:cNvPicPr>
          <p:nvPr/>
        </p:nvPicPr>
        <p:blipFill>
          <a:blip r:embed="rId1"/>
          <a:srcRect l="11172" t="68667" r="12273" b="8464"/>
          <a:stretch>
            <a:fillRect/>
          </a:stretch>
        </p:blipFill>
        <p:spPr>
          <a:xfrm>
            <a:off x="608330" y="2162810"/>
            <a:ext cx="6222365" cy="2722880"/>
          </a:xfrm>
          <a:prstGeom prst="rect">
            <a:avLst/>
          </a:prstGeom>
        </p:spPr>
      </p:pic>
      <p:pic>
        <p:nvPicPr>
          <p:cNvPr id="5" name="图片 4"/>
          <p:cNvPicPr>
            <a:picLocks noChangeAspect="1"/>
          </p:cNvPicPr>
          <p:nvPr/>
        </p:nvPicPr>
        <p:blipFill>
          <a:blip r:embed="rId2"/>
          <a:srcRect l="9140" t="10095" r="42432" b="63588"/>
          <a:stretch>
            <a:fillRect/>
          </a:stretch>
        </p:blipFill>
        <p:spPr>
          <a:xfrm>
            <a:off x="7058660" y="2282190"/>
            <a:ext cx="4518660" cy="3637915"/>
          </a:xfrm>
          <a:prstGeom prst="rect">
            <a:avLst/>
          </a:prstGeom>
        </p:spPr>
      </p:pic>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船体总质量的计算</a:t>
            </a:r>
            <a:endParaRPr lang="zh-CN" altLang="en-US"/>
          </a:p>
        </p:txBody>
      </p:sp>
      <p:sp>
        <p:nvSpPr>
          <p:cNvPr id="3" name="内容占位符 2"/>
          <p:cNvSpPr>
            <a:spLocks noGrp="1"/>
          </p:cNvSpPr>
          <p:nvPr>
            <p:ph idx="1"/>
          </p:nvPr>
        </p:nvSpPr>
        <p:spPr/>
        <p:txBody>
          <a:bodyPr/>
          <a:p>
            <a:r>
              <a:rPr lang="en-US" altLang="zh-CN"/>
              <a:t>4</a:t>
            </a:r>
            <a:r>
              <a:rPr lang="zh-CN" altLang="en-US"/>
              <a:t>得到</a:t>
            </a:r>
            <a:r>
              <a:rPr lang="zh-CN" altLang="en-US"/>
              <a:t>总质量</a:t>
            </a:r>
            <a:endParaRPr lang="zh-CN" altLang="en-US"/>
          </a:p>
        </p:txBody>
      </p:sp>
      <p:pic>
        <p:nvPicPr>
          <p:cNvPr id="4" name="图片 3"/>
          <p:cNvPicPr>
            <a:picLocks noChangeAspect="1"/>
          </p:cNvPicPr>
          <p:nvPr/>
        </p:nvPicPr>
        <p:blipFill>
          <a:blip r:embed="rId1"/>
          <a:srcRect l="-156" t="36987" r="8679" b="50480"/>
          <a:stretch>
            <a:fillRect/>
          </a:stretch>
        </p:blipFill>
        <p:spPr>
          <a:xfrm>
            <a:off x="2569845" y="1490345"/>
            <a:ext cx="8486775" cy="1722755"/>
          </a:xfrm>
          <a:prstGeom prst="rect">
            <a:avLst/>
          </a:prstGeom>
        </p:spPr>
      </p:pic>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目录</a:t>
            </a:r>
            <a:endParaRPr lang="zh-CN" altLang="en-US"/>
          </a:p>
        </p:txBody>
      </p:sp>
      <p:sp>
        <p:nvSpPr>
          <p:cNvPr id="3" name="内容占位符 2"/>
          <p:cNvSpPr>
            <a:spLocks noGrp="1"/>
          </p:cNvSpPr>
          <p:nvPr>
            <p:ph idx="1"/>
          </p:nvPr>
        </p:nvSpPr>
        <p:spPr/>
        <p:txBody>
          <a:bodyPr/>
          <a:p>
            <a:r>
              <a:rPr lang="zh-CN" altLang="en-US"/>
              <a:t>总体思路</a:t>
            </a:r>
            <a:endParaRPr lang="zh-CN" altLang="en-US"/>
          </a:p>
          <a:p>
            <a:r>
              <a:rPr lang="zh-CN" altLang="en-US"/>
              <a:t>液面倾斜对浮心深度和重心高度的影响</a:t>
            </a:r>
            <a:r>
              <a:rPr lang="en-US" altLang="zh-CN"/>
              <a:t>1</a:t>
            </a:r>
            <a:endParaRPr lang="zh-CN" altLang="en-US"/>
          </a:p>
          <a:p>
            <a:r>
              <a:rPr lang="zh-CN" altLang="en-US"/>
              <a:t>小试牛刀（截面浮心的计算）</a:t>
            </a:r>
            <a:r>
              <a:rPr lang="en-US" altLang="zh-CN"/>
              <a:t>2</a:t>
            </a:r>
            <a:endParaRPr lang="zh-CN" altLang="en-US"/>
          </a:p>
          <a:p>
            <a:r>
              <a:rPr lang="zh-CN" altLang="en-US"/>
              <a:t>船体浮心的计算</a:t>
            </a:r>
            <a:r>
              <a:rPr lang="en-US" altLang="zh-CN"/>
              <a:t>3</a:t>
            </a:r>
            <a:endParaRPr lang="zh-CN" altLang="en-US"/>
          </a:p>
          <a:p>
            <a:r>
              <a:rPr lang="zh-CN" altLang="en-US">
                <a:sym typeface="+mn-ea"/>
              </a:rPr>
              <a:t>船体总质量的计算</a:t>
            </a:r>
            <a:r>
              <a:rPr lang="en-US" altLang="zh-CN">
                <a:sym typeface="+mn-ea"/>
              </a:rPr>
              <a:t>4</a:t>
            </a:r>
            <a:endParaRPr lang="zh-CN" altLang="en-US"/>
          </a:p>
          <a:p>
            <a:r>
              <a:rPr lang="zh-CN" altLang="en-US">
                <a:highlight>
                  <a:srgbClr val="FFFF00"/>
                </a:highlight>
              </a:rPr>
              <a:t>船体吃水深度</a:t>
            </a:r>
            <a:r>
              <a:rPr lang="en-US" altLang="zh-CN">
                <a:highlight>
                  <a:srgbClr val="FFFF00"/>
                </a:highlight>
              </a:rPr>
              <a:t>H</a:t>
            </a:r>
            <a:r>
              <a:rPr lang="zh-CN" altLang="en-US">
                <a:highlight>
                  <a:srgbClr val="FFFF00"/>
                </a:highlight>
              </a:rPr>
              <a:t>的计算</a:t>
            </a:r>
            <a:r>
              <a:rPr lang="en-US" altLang="zh-CN"/>
              <a:t>5</a:t>
            </a:r>
            <a:endParaRPr lang="en-US" altLang="zh-CN"/>
          </a:p>
          <a:p>
            <a:r>
              <a:rPr lang="zh-CN" altLang="en-US"/>
              <a:t>用</a:t>
            </a:r>
            <a:r>
              <a:rPr lang="en-US" altLang="zh-CN"/>
              <a:t>3</a:t>
            </a:r>
            <a:r>
              <a:rPr lang="zh-CN" altLang="en-US"/>
              <a:t>解决一些</a:t>
            </a:r>
            <a:r>
              <a:rPr lang="zh-CN" altLang="en-US"/>
              <a:t>问题</a:t>
            </a:r>
            <a:endParaRPr lang="zh-CN" altLang="en-US"/>
          </a:p>
          <a:p>
            <a:endParaRPr lang="zh-CN" altLang="en-US"/>
          </a:p>
          <a:p>
            <a:pPr marL="0" indent="0">
              <a:buNone/>
            </a:pPr>
            <a:endParaRPr lang="zh-CN" altLang="en-US"/>
          </a:p>
        </p:txBody>
      </p:sp>
      <p:pic>
        <p:nvPicPr>
          <p:cNvPr id="4" name="图片 3" descr="01930-293855864-Create an image of a majestic sailing ship from the golden age of exploration. The ship should be a large galleon with three mas"/>
          <p:cNvPicPr>
            <a:picLocks noChangeAspect="1"/>
          </p:cNvPicPr>
          <p:nvPr/>
        </p:nvPicPr>
        <p:blipFill>
          <a:blip r:embed="rId1"/>
          <a:stretch>
            <a:fillRect/>
          </a:stretch>
        </p:blipFill>
        <p:spPr>
          <a:xfrm>
            <a:off x="6577330" y="2498725"/>
            <a:ext cx="4999990" cy="3750945"/>
          </a:xfrm>
          <a:prstGeom prst="rect">
            <a:avLst/>
          </a:prstGeom>
        </p:spPr>
      </p:pic>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船体吃水深度</a:t>
            </a:r>
            <a:r>
              <a:rPr lang="en-US" altLang="zh-CN">
                <a:sym typeface="+mn-ea"/>
              </a:rPr>
              <a:t>H</a:t>
            </a:r>
            <a:r>
              <a:rPr lang="zh-CN" altLang="en-US">
                <a:sym typeface="+mn-ea"/>
              </a:rPr>
              <a:t>的计算</a:t>
            </a:r>
            <a:endParaRPr lang="zh-CN" altLang="en-US">
              <a:sym typeface="+mn-ea"/>
            </a:endParaRPr>
          </a:p>
        </p:txBody>
      </p:sp>
      <p:sp>
        <p:nvSpPr>
          <p:cNvPr id="3" name="内容占位符 2"/>
          <p:cNvSpPr>
            <a:spLocks noGrp="1"/>
          </p:cNvSpPr>
          <p:nvPr>
            <p:ph idx="1"/>
          </p:nvPr>
        </p:nvSpPr>
        <p:spPr/>
        <p:txBody>
          <a:bodyPr/>
          <a:p>
            <a:r>
              <a:rPr lang="zh-CN" altLang="en-US"/>
              <a:t>只要让</a:t>
            </a:r>
            <a:r>
              <a:rPr lang="en-US" altLang="zh-CN"/>
              <a:t>m</a:t>
            </a:r>
            <a:r>
              <a:rPr lang="zh-CN" altLang="en-US"/>
              <a:t>总</a:t>
            </a:r>
            <a:r>
              <a:rPr lang="en-US" altLang="zh-CN"/>
              <a:t>g=pgv</a:t>
            </a:r>
            <a:r>
              <a:rPr lang="zh-CN" altLang="en-US"/>
              <a:t>排</a:t>
            </a:r>
            <a:r>
              <a:rPr lang="zh-CN" altLang="en-US"/>
              <a:t>即可</a:t>
            </a:r>
            <a:endParaRPr lang="zh-CN" altLang="en-US"/>
          </a:p>
        </p:txBody>
      </p:sp>
      <p:pic>
        <p:nvPicPr>
          <p:cNvPr id="4" name="图片 3"/>
          <p:cNvPicPr>
            <a:picLocks noChangeAspect="1"/>
          </p:cNvPicPr>
          <p:nvPr/>
        </p:nvPicPr>
        <p:blipFill>
          <a:blip r:embed="rId1"/>
          <a:srcRect l="1751" t="50412" r="9969" b="5673"/>
          <a:stretch>
            <a:fillRect/>
          </a:stretch>
        </p:blipFill>
        <p:spPr>
          <a:xfrm>
            <a:off x="4058920" y="1313815"/>
            <a:ext cx="7428230" cy="5474970"/>
          </a:xfrm>
          <a:prstGeom prst="rect">
            <a:avLst/>
          </a:prstGeom>
        </p:spPr>
      </p:pic>
      <p:pic>
        <p:nvPicPr>
          <p:cNvPr id="5" name="图片 4"/>
          <p:cNvPicPr>
            <a:picLocks noChangeAspect="1"/>
          </p:cNvPicPr>
          <p:nvPr/>
        </p:nvPicPr>
        <p:blipFill>
          <a:blip r:embed="rId2"/>
          <a:stretch>
            <a:fillRect/>
          </a:stretch>
        </p:blipFill>
        <p:spPr>
          <a:xfrm>
            <a:off x="635" y="4685030"/>
            <a:ext cx="2714625" cy="2172970"/>
          </a:xfrm>
          <a:prstGeom prst="rect">
            <a:avLst/>
          </a:prstGeom>
        </p:spPr>
      </p:pic>
      <p:pic>
        <p:nvPicPr>
          <p:cNvPr id="6" name="内容占位符 3"/>
          <p:cNvPicPr>
            <a:picLocks noChangeAspect="1"/>
          </p:cNvPicPr>
          <p:nvPr/>
        </p:nvPicPr>
        <p:blipFill>
          <a:blip r:embed="rId3"/>
          <a:srcRect l="9574" t="112" r="25217" b="32217"/>
          <a:stretch>
            <a:fillRect/>
          </a:stretch>
        </p:blipFill>
        <p:spPr>
          <a:xfrm>
            <a:off x="0" y="2174875"/>
            <a:ext cx="4262755" cy="2509520"/>
          </a:xfrm>
          <a:prstGeom prst="rect">
            <a:avLst/>
          </a:prstGeom>
        </p:spPr>
      </p:pic>
    </p:spTree>
    <p:custDataLst>
      <p:tags r:id="rId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目录</a:t>
            </a:r>
            <a:endParaRPr lang="zh-CN" altLang="en-US"/>
          </a:p>
        </p:txBody>
      </p:sp>
      <p:sp>
        <p:nvSpPr>
          <p:cNvPr id="3" name="内容占位符 2"/>
          <p:cNvSpPr>
            <a:spLocks noGrp="1"/>
          </p:cNvSpPr>
          <p:nvPr>
            <p:ph idx="1"/>
          </p:nvPr>
        </p:nvSpPr>
        <p:spPr/>
        <p:txBody>
          <a:bodyPr/>
          <a:p>
            <a:r>
              <a:rPr lang="zh-CN" altLang="en-US"/>
              <a:t>总体思路</a:t>
            </a:r>
            <a:endParaRPr lang="zh-CN" altLang="en-US"/>
          </a:p>
          <a:p>
            <a:r>
              <a:rPr lang="zh-CN" altLang="en-US"/>
              <a:t>液面倾斜对浮心深度和重心高度的影响</a:t>
            </a:r>
            <a:r>
              <a:rPr lang="en-US" altLang="zh-CN"/>
              <a:t>1</a:t>
            </a:r>
            <a:endParaRPr lang="zh-CN" altLang="en-US"/>
          </a:p>
          <a:p>
            <a:r>
              <a:rPr lang="zh-CN" altLang="en-US"/>
              <a:t>小试牛刀（截面浮心的计算）</a:t>
            </a:r>
            <a:r>
              <a:rPr lang="en-US" altLang="zh-CN"/>
              <a:t>2</a:t>
            </a:r>
            <a:endParaRPr lang="zh-CN" altLang="en-US"/>
          </a:p>
          <a:p>
            <a:r>
              <a:rPr lang="zh-CN" altLang="en-US"/>
              <a:t>船体浮心的计算</a:t>
            </a:r>
            <a:r>
              <a:rPr lang="en-US" altLang="zh-CN"/>
              <a:t>3</a:t>
            </a:r>
            <a:endParaRPr lang="zh-CN" altLang="en-US"/>
          </a:p>
          <a:p>
            <a:r>
              <a:rPr lang="zh-CN" altLang="en-US">
                <a:sym typeface="+mn-ea"/>
              </a:rPr>
              <a:t>船体总质量的计算</a:t>
            </a:r>
            <a:r>
              <a:rPr lang="en-US" altLang="zh-CN">
                <a:sym typeface="+mn-ea"/>
              </a:rPr>
              <a:t>4</a:t>
            </a:r>
            <a:endParaRPr lang="zh-CN" altLang="en-US"/>
          </a:p>
          <a:p>
            <a:r>
              <a:rPr lang="zh-CN" altLang="en-US"/>
              <a:t>船体吃水深度</a:t>
            </a:r>
            <a:r>
              <a:rPr lang="en-US" altLang="zh-CN"/>
              <a:t>H</a:t>
            </a:r>
            <a:r>
              <a:rPr lang="zh-CN" altLang="en-US"/>
              <a:t>的计算</a:t>
            </a:r>
            <a:r>
              <a:rPr lang="en-US" altLang="zh-CN"/>
              <a:t>5</a:t>
            </a:r>
            <a:endParaRPr lang="en-US" altLang="zh-CN"/>
          </a:p>
          <a:p>
            <a:r>
              <a:rPr lang="zh-CN" altLang="en-US">
                <a:highlight>
                  <a:srgbClr val="FFFF00"/>
                </a:highlight>
              </a:rPr>
              <a:t>用</a:t>
            </a:r>
            <a:r>
              <a:rPr lang="en-US" altLang="zh-CN">
                <a:highlight>
                  <a:srgbClr val="FFFF00"/>
                </a:highlight>
              </a:rPr>
              <a:t>3</a:t>
            </a:r>
            <a:r>
              <a:rPr lang="zh-CN" altLang="en-US">
                <a:highlight>
                  <a:srgbClr val="FFFF00"/>
                </a:highlight>
              </a:rPr>
              <a:t>解决一些问题</a:t>
            </a:r>
            <a:endParaRPr lang="zh-CN" altLang="en-US"/>
          </a:p>
          <a:p>
            <a:endParaRPr lang="zh-CN" altLang="en-US"/>
          </a:p>
          <a:p>
            <a:pPr marL="0" indent="0">
              <a:buNone/>
            </a:pPr>
            <a:endParaRPr lang="zh-CN" altLang="en-US"/>
          </a:p>
        </p:txBody>
      </p:sp>
      <p:pic>
        <p:nvPicPr>
          <p:cNvPr id="4" name="图片 3" descr="01930-293855864-Create an image of a majestic sailing ship from the golden age of exploration. The ship should be a large galleon with three mas"/>
          <p:cNvPicPr>
            <a:picLocks noChangeAspect="1"/>
          </p:cNvPicPr>
          <p:nvPr/>
        </p:nvPicPr>
        <p:blipFill>
          <a:blip r:embed="rId1"/>
          <a:stretch>
            <a:fillRect/>
          </a:stretch>
        </p:blipFill>
        <p:spPr>
          <a:xfrm>
            <a:off x="6577330" y="2498725"/>
            <a:ext cx="4999990" cy="3750945"/>
          </a:xfrm>
          <a:prstGeom prst="rect">
            <a:avLst/>
          </a:prstGeom>
        </p:spPr>
      </p:pic>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用</a:t>
            </a:r>
            <a:r>
              <a:rPr lang="en-US" altLang="zh-CN">
                <a:sym typeface="+mn-ea"/>
              </a:rPr>
              <a:t>3</a:t>
            </a:r>
            <a:r>
              <a:rPr lang="zh-CN" altLang="en-US">
                <a:sym typeface="+mn-ea"/>
              </a:rPr>
              <a:t>解决一些问题</a:t>
            </a:r>
            <a:endParaRPr lang="zh-CN" altLang="en-US"/>
          </a:p>
        </p:txBody>
      </p:sp>
      <p:sp>
        <p:nvSpPr>
          <p:cNvPr id="3" name="内容占位符 2"/>
          <p:cNvSpPr>
            <a:spLocks noGrp="1"/>
          </p:cNvSpPr>
          <p:nvPr>
            <p:ph idx="1"/>
          </p:nvPr>
        </p:nvSpPr>
        <p:spPr/>
        <p:txBody>
          <a:bodyPr/>
          <a:p>
            <a:r>
              <a:rPr lang="zh-CN" altLang="en-US"/>
              <a:t>经过上面思考我们已经知道</a:t>
            </a:r>
            <a:r>
              <a:rPr lang="en-US" altLang="zh-CN"/>
              <a:t>z</a:t>
            </a:r>
            <a:r>
              <a:rPr lang="zh-CN" altLang="en-US"/>
              <a:t>（</a:t>
            </a:r>
            <a:r>
              <a:rPr lang="en-US" altLang="zh-CN"/>
              <a:t>x</a:t>
            </a:r>
            <a:r>
              <a:rPr lang="zh-CN" altLang="en-US"/>
              <a:t>，</a:t>
            </a:r>
            <a:r>
              <a:rPr lang="en-US" altLang="zh-CN"/>
              <a:t>y</a:t>
            </a:r>
            <a:r>
              <a:rPr lang="zh-CN" altLang="en-US"/>
              <a:t>）与复原力矩的关系，但具体的计算需要相关非线性微分方程组的求解，使用计算机可以在算出的一组数据中选取我们所需要的确定</a:t>
            </a:r>
            <a:endParaRPr lang="zh-CN" altLang="en-US"/>
          </a:p>
          <a:p>
            <a:r>
              <a:rPr lang="en-US" altLang="zh-CN"/>
              <a:t>z</a:t>
            </a:r>
            <a:r>
              <a:rPr lang="zh-CN" altLang="en-US"/>
              <a:t>（</a:t>
            </a:r>
            <a:r>
              <a:rPr lang="en-US" altLang="zh-CN"/>
              <a:t>x</a:t>
            </a:r>
            <a:r>
              <a:rPr lang="zh-CN" altLang="en-US"/>
              <a:t>，</a:t>
            </a:r>
            <a:r>
              <a:rPr lang="en-US" altLang="zh-CN"/>
              <a:t>y</a:t>
            </a:r>
            <a:r>
              <a:rPr lang="zh-CN" altLang="en-US"/>
              <a:t>）</a:t>
            </a:r>
            <a:r>
              <a:rPr lang="en-US" altLang="zh-CN"/>
              <a:t>=18.2x^2+3.7y^2-44.2,</a:t>
            </a:r>
            <a:r>
              <a:rPr lang="zh-CN" altLang="en-US"/>
              <a:t>船高</a:t>
            </a:r>
            <a:r>
              <a:rPr lang="en-US" altLang="zh-CN"/>
              <a:t>120    </a:t>
            </a:r>
            <a:r>
              <a:rPr lang="zh-CN" altLang="en-US"/>
              <a:t>单位（</a:t>
            </a:r>
            <a:r>
              <a:rPr lang="en-US" altLang="zh-CN"/>
              <a:t>mm</a:t>
            </a:r>
            <a:r>
              <a:rPr lang="zh-CN" altLang="en-US"/>
              <a:t>）</a:t>
            </a:r>
            <a:endParaRPr lang="zh-CN" altLang="en-US"/>
          </a:p>
        </p:txBody>
      </p:sp>
      <p:graphicFrame>
        <p:nvGraphicFramePr>
          <p:cNvPr id="5" name="表格 4"/>
          <p:cNvGraphicFramePr/>
          <p:nvPr>
            <p:custDataLst>
              <p:tags r:id="rId1"/>
            </p:custDataLst>
          </p:nvPr>
        </p:nvGraphicFramePr>
        <p:xfrm>
          <a:off x="993140" y="3043555"/>
          <a:ext cx="8255000" cy="3735070"/>
        </p:xfrm>
        <a:graphic>
          <a:graphicData uri="http://schemas.openxmlformats.org/drawingml/2006/table">
            <a:tbl>
              <a:tblPr/>
              <a:tblGrid>
                <a:gridCol w="825500"/>
                <a:gridCol w="825500"/>
                <a:gridCol w="825500"/>
                <a:gridCol w="825500"/>
                <a:gridCol w="825500"/>
                <a:gridCol w="825500"/>
                <a:gridCol w="825500"/>
                <a:gridCol w="825500"/>
                <a:gridCol w="825500"/>
                <a:gridCol w="825500"/>
              </a:tblGrid>
              <a:tr h="553720">
                <a:tc>
                  <a:txBody>
                    <a:bodyPr/>
                    <a:p>
                      <a:pPr indent="0">
                        <a:buNone/>
                      </a:pPr>
                      <a:r>
                        <a:rPr lang="en-US" sz="1100" b="0">
                          <a:solidFill>
                            <a:srgbClr val="000000"/>
                          </a:solidFill>
                          <a:latin typeface="等线" panose="02010600030101010101" charset="-122"/>
                        </a:rPr>
                        <a:t>A</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B</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H</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0">
                          <a:solidFill>
                            <a:srgbClr val="000000"/>
                          </a:solidFill>
                          <a:latin typeface="Arial" panose="020B0604020202020204" pitchFamily="34" charset="0"/>
                          <a:ea typeface="等线" panose="02010600030101010101" charset="-122"/>
                        </a:rPr>
                        <a:t>船体质量</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0">
                          <a:solidFill>
                            <a:srgbClr val="000000"/>
                          </a:solidFill>
                          <a:latin typeface="Arial" panose="020B0604020202020204" pitchFamily="34" charset="0"/>
                          <a:ea typeface="等线" panose="02010600030101010101" charset="-122"/>
                        </a:rPr>
                        <a:t>平吃水位线</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0">
                          <a:solidFill>
                            <a:srgbClr val="000000"/>
                          </a:solidFill>
                          <a:latin typeface="Arial" panose="020B0604020202020204" pitchFamily="34" charset="0"/>
                          <a:ea typeface="等线" panose="02010600030101010101" charset="-122"/>
                        </a:rPr>
                        <a:t>船体重心</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0">
                          <a:solidFill>
                            <a:srgbClr val="000000"/>
                          </a:solidFill>
                          <a:latin typeface="Arial" panose="020B0604020202020204" pitchFamily="34" charset="0"/>
                          <a:ea typeface="等线" panose="02010600030101010101" charset="-122"/>
                        </a:rPr>
                        <a:t>复原力距</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0">
                          <a:solidFill>
                            <a:srgbClr val="000000"/>
                          </a:solidFill>
                          <a:latin typeface="Arial" panose="020B0604020202020204" pitchFamily="34" charset="0"/>
                          <a:ea typeface="等线" panose="02010600030101010101" charset="-122"/>
                        </a:rPr>
                        <a:t>水下阻力截面船长</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zh-CN" sz="1100" b="0">
                          <a:solidFill>
                            <a:srgbClr val="000000"/>
                          </a:solidFill>
                          <a:latin typeface="Arial" panose="020B0604020202020204" pitchFamily="34" charset="0"/>
                          <a:ea typeface="等线" panose="02010600030101010101" charset="-122"/>
                        </a:rPr>
                        <a:t>船宽</a:t>
                      </a:r>
                      <a:endParaRPr lang="en-US" altLang="en-US" sz="1100" b="0">
                        <a:solidFill>
                          <a:srgbClr val="00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18135">
                <a:tc>
                  <a:txBody>
                    <a:bodyPr/>
                    <a:p>
                      <a:pPr indent="0">
                        <a:buNone/>
                      </a:pPr>
                      <a:r>
                        <a:rPr lang="en-US" sz="1100" b="0">
                          <a:solidFill>
                            <a:srgbClr val="000000"/>
                          </a:solidFill>
                          <a:latin typeface="等线" panose="02010600030101010101" charset="-122"/>
                        </a:rPr>
                        <a:t>17.9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3.9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1.1001</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0.0765</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0.0699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8.92E-04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0.0067</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0.3508</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0.1638</a:t>
                      </a:r>
                      <a:endParaRPr lang="en-US" altLang="en-US" sz="1100" b="0">
                        <a:solidFill>
                          <a:srgbClr val="00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18135">
                <a:tc>
                  <a:txBody>
                    <a:bodyPr/>
                    <a:p>
                      <a:pPr indent="0">
                        <a:buNone/>
                      </a:pPr>
                      <a:r>
                        <a:rPr lang="en-US" sz="1100" b="0">
                          <a:solidFill>
                            <a:srgbClr val="000000"/>
                          </a:solidFill>
                          <a:latin typeface="等线" panose="02010600030101010101" charset="-122"/>
                        </a:rPr>
                        <a:t>17.9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1.0995</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0.077</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0.0699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4.21E-04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0.0067</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0.3464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0.1638</a:t>
                      </a:r>
                      <a:endParaRPr lang="en-US" altLang="en-US" sz="1100" b="0">
                        <a:solidFill>
                          <a:srgbClr val="00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18135">
                <a:tc>
                  <a:txBody>
                    <a:bodyPr/>
                    <a:p>
                      <a:pPr indent="0">
                        <a:buNone/>
                      </a:pPr>
                      <a:r>
                        <a:rPr lang="en-US" sz="1100" b="0">
                          <a:solidFill>
                            <a:srgbClr val="000000"/>
                          </a:solidFill>
                          <a:latin typeface="等线" panose="02010600030101010101" charset="-122"/>
                        </a:rPr>
                        <a:t>18</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3.8</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1.1004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0.0761</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0.0699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0.001</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0.0066</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0.3554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0.1633</a:t>
                      </a:r>
                      <a:endParaRPr lang="en-US" altLang="en-US" sz="1100" b="0">
                        <a:solidFill>
                          <a:srgbClr val="00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18135">
                <a:tc>
                  <a:txBody>
                    <a:bodyPr/>
                    <a:p>
                      <a:pPr indent="0">
                        <a:buNone/>
                      </a:pPr>
                      <a:r>
                        <a:rPr lang="en-US" sz="1100" b="0">
                          <a:solidFill>
                            <a:srgbClr val="000000"/>
                          </a:solidFill>
                          <a:latin typeface="等线" panose="02010600030101010101" charset="-122"/>
                        </a:rPr>
                        <a:t>18</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3.9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1.0999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0.0766</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0.0699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3.16E-04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0.0067</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0.3508</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0.1633</a:t>
                      </a:r>
                      <a:endParaRPr lang="en-US" altLang="en-US" sz="1100" b="0">
                        <a:solidFill>
                          <a:srgbClr val="00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18135">
                <a:tc>
                  <a:txBody>
                    <a:bodyPr/>
                    <a:p>
                      <a:pPr indent="0">
                        <a:buNone/>
                      </a:pPr>
                      <a:r>
                        <a:rPr lang="en-US" sz="1100" b="0">
                          <a:solidFill>
                            <a:srgbClr val="000000"/>
                          </a:solidFill>
                          <a:latin typeface="等线" panose="02010600030101010101" charset="-122"/>
                        </a:rPr>
                        <a:t>18</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1.0993</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0.0771</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0.0699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0.0016</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0.0067</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0.3464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0.1633</a:t>
                      </a:r>
                      <a:endParaRPr lang="en-US" altLang="en-US" sz="1100" b="0">
                        <a:solidFill>
                          <a:srgbClr val="00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18135">
                <a:tc>
                  <a:txBody>
                    <a:bodyPr/>
                    <a:p>
                      <a:pPr indent="0">
                        <a:buNone/>
                      </a:pPr>
                      <a:r>
                        <a:rPr lang="en-US" sz="1100" b="0">
                          <a:solidFill>
                            <a:srgbClr val="000000"/>
                          </a:solidFill>
                          <a:latin typeface="等线" panose="02010600030101010101" charset="-122"/>
                        </a:rPr>
                        <a:t>18.1</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3.7</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1.1008</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0.0757</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0.0699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0.0012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0.0065</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0.3602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0.1628</a:t>
                      </a:r>
                      <a:endParaRPr lang="en-US" altLang="en-US" sz="1100" b="0">
                        <a:solidFill>
                          <a:srgbClr val="00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18135">
                <a:tc>
                  <a:txBody>
                    <a:bodyPr/>
                    <a:p>
                      <a:pPr indent="0">
                        <a:buNone/>
                      </a:pPr>
                      <a:r>
                        <a:rPr lang="en-US" sz="1100" b="0">
                          <a:solidFill>
                            <a:srgbClr val="000000"/>
                          </a:solidFill>
                          <a:latin typeface="等线" panose="02010600030101010101" charset="-122"/>
                        </a:rPr>
                        <a:t>18.1</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3.8</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1.1002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0.0762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0.0699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1.82E-04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0.0066</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0.3554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0.1628</a:t>
                      </a:r>
                      <a:endParaRPr lang="en-US" altLang="en-US" sz="1100" b="0">
                        <a:solidFill>
                          <a:srgbClr val="00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18135">
                <a:tc>
                  <a:txBody>
                    <a:bodyPr/>
                    <a:p>
                      <a:pPr indent="0">
                        <a:buNone/>
                      </a:pPr>
                      <a:r>
                        <a:rPr lang="en-US" sz="1100" b="0">
                          <a:solidFill>
                            <a:srgbClr val="000000"/>
                          </a:solidFill>
                          <a:latin typeface="等线" panose="02010600030101010101" charset="-122"/>
                        </a:rPr>
                        <a:t>18.1</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3.9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1.0997</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0.0767</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0.0699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0.0015</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0.0067</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0.3508</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0.1628</a:t>
                      </a:r>
                      <a:endParaRPr lang="en-US" altLang="en-US" sz="1100" b="0">
                        <a:solidFill>
                          <a:srgbClr val="00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18135">
                <a:tc>
                  <a:txBody>
                    <a:bodyPr/>
                    <a:p>
                      <a:pPr indent="0">
                        <a:buNone/>
                      </a:pPr>
                      <a:r>
                        <a:rPr lang="en-US" sz="1100" b="0">
                          <a:solidFill>
                            <a:srgbClr val="000000"/>
                          </a:solidFill>
                          <a:latin typeface="等线" panose="02010600030101010101" charset="-122"/>
                        </a:rPr>
                        <a:t>18.2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3.6</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0.12</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1.1013</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0.0753</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0.0699</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0.0014</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0.0065</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0.3651</a:t>
                      </a:r>
                      <a:endParaRPr lang="en-US" altLang="en-US" sz="1100" b="0">
                        <a:solidFill>
                          <a:srgbClr val="00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000000"/>
                          </a:solidFill>
                          <a:latin typeface="等线" panose="02010600030101010101" charset="-122"/>
                        </a:rPr>
                        <a:t>0.1624</a:t>
                      </a:r>
                      <a:endParaRPr lang="en-US" altLang="en-US" sz="1100" b="0">
                        <a:solidFill>
                          <a:srgbClr val="00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r h="318135">
                <a:tc>
                  <a:txBody>
                    <a:bodyPr/>
                    <a:p>
                      <a:pPr indent="0">
                        <a:buNone/>
                      </a:pPr>
                      <a:r>
                        <a:rPr lang="en-US" sz="1100" b="0">
                          <a:solidFill>
                            <a:srgbClr val="FF0000"/>
                          </a:solidFill>
                          <a:latin typeface="等线" panose="02010600030101010101" charset="-122"/>
                        </a:rPr>
                        <a:t>18.2</a:t>
                      </a:r>
                      <a:endParaRPr lang="en-US" altLang="en-US" sz="1100" b="0">
                        <a:solidFill>
                          <a:srgbClr val="FF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FF0000"/>
                          </a:solidFill>
                          <a:latin typeface="等线" panose="02010600030101010101" charset="-122"/>
                        </a:rPr>
                        <a:t>3.7</a:t>
                      </a:r>
                      <a:endParaRPr lang="en-US" altLang="en-US" sz="1100" b="0">
                        <a:solidFill>
                          <a:srgbClr val="FF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FF0000"/>
                          </a:solidFill>
                          <a:latin typeface="等线" panose="02010600030101010101" charset="-122"/>
                        </a:rPr>
                        <a:t>0.12</a:t>
                      </a:r>
                      <a:endParaRPr lang="en-US" altLang="en-US" sz="1100" b="0">
                        <a:solidFill>
                          <a:srgbClr val="FF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FF0000"/>
                          </a:solidFill>
                          <a:latin typeface="等线" panose="02010600030101010101" charset="-122"/>
                        </a:rPr>
                        <a:t>1.1006</a:t>
                      </a:r>
                      <a:endParaRPr lang="en-US" altLang="en-US" sz="1100" b="0">
                        <a:solidFill>
                          <a:srgbClr val="FF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FF0000"/>
                          </a:solidFill>
                          <a:latin typeface="等线" panose="02010600030101010101" charset="-122"/>
                        </a:rPr>
                        <a:t>0.0758</a:t>
                      </a:r>
                      <a:endParaRPr lang="en-US" altLang="en-US" sz="1100" b="0">
                        <a:solidFill>
                          <a:srgbClr val="FF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FF0000"/>
                          </a:solidFill>
                          <a:latin typeface="等线" panose="02010600030101010101" charset="-122"/>
                        </a:rPr>
                        <a:t>0.0699</a:t>
                      </a:r>
                      <a:endParaRPr lang="en-US" altLang="en-US" sz="1100" b="0">
                        <a:solidFill>
                          <a:srgbClr val="FF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FF0000"/>
                          </a:solidFill>
                          <a:latin typeface="等线" panose="02010600030101010101" charset="-122"/>
                        </a:rPr>
                        <a:t>2.13E-05</a:t>
                      </a:r>
                      <a:endParaRPr lang="en-US" altLang="en-US" sz="1100" b="0">
                        <a:solidFill>
                          <a:srgbClr val="FF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FF0000"/>
                          </a:solidFill>
                          <a:latin typeface="等线" panose="02010600030101010101" charset="-122"/>
                        </a:rPr>
                        <a:t>0.0065</a:t>
                      </a:r>
                      <a:endParaRPr lang="en-US" altLang="en-US" sz="1100" b="0">
                        <a:solidFill>
                          <a:srgbClr val="FF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FF0000"/>
                          </a:solidFill>
                          <a:latin typeface="等线" panose="02010600030101010101" charset="-122"/>
                        </a:rPr>
                        <a:t>s</a:t>
                      </a:r>
                      <a:endParaRPr lang="en-US" altLang="en-US" sz="1100" b="0">
                        <a:solidFill>
                          <a:srgbClr val="FF0000"/>
                        </a:solidFill>
                        <a:latin typeface="等线" panose="02010600030101010101" charset="-122"/>
                      </a:endParaRPr>
                    </a:p>
                  </a:txBody>
                  <a:tcPr marL="12700" marR="12700" marT="12700" vert="horz" anchor="ctr" anchorCtr="0">
                    <a:lnL>
                      <a:noFill/>
                    </a:lnL>
                    <a:lnR>
                      <a:noFill/>
                    </a:lnR>
                    <a:lnT cap="flat">
                      <a:noFill/>
                    </a:lnT>
                    <a:lnB cap="flat">
                      <a:noFill/>
                    </a:lnB>
                    <a:lnTlToBr>
                      <a:noFill/>
                    </a:lnTlToBr>
                    <a:lnBlToTr>
                      <a:noFill/>
                    </a:lnBlToTr>
                    <a:noFill/>
                  </a:tcPr>
                </a:tc>
                <a:tc>
                  <a:txBody>
                    <a:bodyPr/>
                    <a:p>
                      <a:pPr indent="0">
                        <a:buNone/>
                      </a:pPr>
                      <a:r>
                        <a:rPr lang="en-US" sz="1100" b="0">
                          <a:solidFill>
                            <a:srgbClr val="FF0000"/>
                          </a:solidFill>
                          <a:latin typeface="等线" panose="02010600030101010101" charset="-122"/>
                        </a:rPr>
                        <a:t>0.1624</a:t>
                      </a:r>
                      <a:endParaRPr lang="en-US" altLang="en-US" sz="1100" b="0">
                        <a:solidFill>
                          <a:srgbClr val="FF0000"/>
                        </a:solidFill>
                        <a:latin typeface="等线" panose="02010600030101010101" charset="-122"/>
                      </a:endParaRPr>
                    </a:p>
                  </a:txBody>
                  <a:tcPr marL="12700" marR="12700" marT="12700" vert="horz" anchor="ctr" anchorCtr="0">
                    <a:lnL>
                      <a:noFill/>
                    </a:lnL>
                    <a:lnR cap="flat">
                      <a:noFill/>
                    </a:lnR>
                    <a:lnT cap="flat">
                      <a:noFill/>
                    </a:lnT>
                    <a:lnB cap="flat">
                      <a:noFill/>
                    </a:lnB>
                    <a:lnTlToBr>
                      <a:noFill/>
                    </a:lnTlToBr>
                    <a:lnBlToTr>
                      <a:noFill/>
                    </a:lnBlToTr>
                    <a:noFill/>
                  </a:tcPr>
                </a:tc>
              </a:tr>
            </a:tbl>
          </a:graphicData>
        </a:graphic>
      </p:graphicFrame>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0" y="0"/>
            <a:ext cx="5911850" cy="7016115"/>
          </a:xfrm>
          <a:prstGeom prst="rect">
            <a:avLst/>
          </a:prstGeom>
          <a:noFill/>
        </p:spPr>
        <p:txBody>
          <a:bodyPr wrap="square" rtlCol="0">
            <a:spAutoFit/>
          </a:bodyPr>
          <a:p>
            <a:r>
              <a:rPr lang="zh-CN" altLang="en-US"/>
              <a:t>boat.A=zeros(1,2000,'double');</a:t>
            </a:r>
            <a:endParaRPr lang="zh-CN" altLang="en-US"/>
          </a:p>
          <a:p>
            <a:r>
              <a:rPr lang="zh-CN" altLang="en-US"/>
              <a:t>boat.B=zeros(1,2000,'double');</a:t>
            </a:r>
            <a:endParaRPr lang="zh-CN" altLang="en-US"/>
          </a:p>
          <a:p>
            <a:r>
              <a:rPr lang="zh-CN" altLang="en-US"/>
              <a:t>boat.H=zeros(1,2000,'double');</a:t>
            </a:r>
            <a:endParaRPr lang="zh-CN" altLang="en-US"/>
          </a:p>
          <a:p>
            <a:r>
              <a:rPr lang="zh-CN" altLang="en-US"/>
              <a:t>boat.boat_qiality=zeros(1,2000,'double');%船体质量</a:t>
            </a:r>
            <a:endParaRPr lang="zh-CN" altLang="en-US"/>
          </a:p>
          <a:p>
            <a:r>
              <a:rPr lang="zh-CN" altLang="en-US"/>
              <a:t>boat.waterline=zeros(1,2000,'double');%平吃水线</a:t>
            </a:r>
            <a:endParaRPr lang="zh-CN" altLang="en-US"/>
          </a:p>
          <a:p>
            <a:r>
              <a:rPr lang="zh-CN" altLang="en-US"/>
              <a:t>boat.boat_com=zeros(1,2000,'double');%船体重心</a:t>
            </a:r>
            <a:endParaRPr lang="zh-CN" altLang="en-US"/>
          </a:p>
          <a:p>
            <a:r>
              <a:rPr lang="zh-CN" altLang="en-US"/>
              <a:t>boat.Recovery_torque=zeros(1,2000,'double');%复原力矩</a:t>
            </a:r>
            <a:endParaRPr lang="zh-CN" altLang="en-US"/>
          </a:p>
          <a:p>
            <a:r>
              <a:rPr lang="zh-CN" altLang="en-US"/>
              <a:t>boat.Resistance_section=zeros(1,2000,'double');%水下阻力截面面积</a:t>
            </a:r>
            <a:endParaRPr lang="zh-CN" altLang="en-US"/>
          </a:p>
          <a:p>
            <a:r>
              <a:rPr lang="zh-CN" altLang="en-US"/>
              <a:t>boat.boat_lenth=zeros(1,2000,'double');%船长</a:t>
            </a:r>
            <a:endParaRPr lang="zh-CN" altLang="en-US"/>
          </a:p>
          <a:p>
            <a:r>
              <a:rPr lang="zh-CN" altLang="en-US"/>
              <a:t>boat.boat_width=zeros(1,2000,'double');%船宽</a:t>
            </a:r>
            <a:endParaRPr lang="zh-CN" altLang="en-US"/>
          </a:p>
          <a:p>
            <a:r>
              <a:rPr lang="zh-CN" altLang="en-US"/>
              <a:t>count=1;</a:t>
            </a:r>
            <a:endParaRPr lang="zh-CN" altLang="en-US"/>
          </a:p>
          <a:p>
            <a:r>
              <a:rPr lang="zh-CN" altLang="en-US"/>
              <a:t>density=1.6;%面密�?</a:t>
            </a:r>
            <a:endParaRPr lang="zh-CN" altLang="en-US"/>
          </a:p>
          <a:p>
            <a:r>
              <a:rPr lang="zh-CN" altLang="en-US"/>
              <a:t>for H=0.11:0.01:0.13</a:t>
            </a:r>
            <a:endParaRPr lang="zh-CN" altLang="en-US"/>
          </a:p>
          <a:p>
            <a:r>
              <a:rPr lang="zh-CN" altLang="en-US"/>
              <a:t>disp(['working on :h ',num2str(H)]);</a:t>
            </a:r>
            <a:endParaRPr lang="zh-CN" altLang="en-US"/>
          </a:p>
          <a:p>
            <a:r>
              <a:rPr lang="zh-CN" altLang="en-US"/>
              <a:t>for A=16:0.1:24</a:t>
            </a:r>
            <a:endParaRPr lang="zh-CN" altLang="en-US"/>
          </a:p>
          <a:p>
            <a:r>
              <a:rPr lang="zh-CN" altLang="en-US"/>
              <a:t>for B=2:0.1:4%船长�?�?</a:t>
            </a:r>
            <a:endParaRPr lang="zh-CN" altLang="en-US"/>
          </a:p>
          <a:p>
            <a:r>
              <a:rPr lang="zh-CN" altLang="en-US"/>
              <a:t>disp(['working on :A ',num2str(A),' B ',num2str(B)]);</a:t>
            </a:r>
            <a:endParaRPr lang="zh-CN" altLang="en-US"/>
          </a:p>
          <a:p>
            <a:r>
              <a:rPr lang="zh-CN" altLang="en-US"/>
              <a:t>Y_MAX=sqrt(H./B);</a:t>
            </a:r>
            <a:endParaRPr lang="zh-CN" altLang="en-US"/>
          </a:p>
          <a:p>
            <a:r>
              <a:rPr lang="zh-CN" altLang="en-US"/>
              <a:t>if 2*Y_MAX&gt;0.45%长度太长的情况删�?</a:t>
            </a:r>
            <a:endParaRPr lang="zh-CN" altLang="en-US"/>
          </a:p>
          <a:p>
            <a:r>
              <a:rPr lang="zh-CN" altLang="en-US"/>
              <a:t>continue;</a:t>
            </a:r>
            <a:endParaRPr lang="zh-CN" altLang="en-US"/>
          </a:p>
          <a:p>
            <a:r>
              <a:rPr lang="zh-CN" altLang="en-US"/>
              <a:t>end </a:t>
            </a:r>
            <a:endParaRPr lang="zh-CN" altLang="en-US"/>
          </a:p>
          <a:p>
            <a:r>
              <a:rPr lang="zh-CN" altLang="en-US"/>
              <a:t>if 2*Y_MAX&lt;0.3%长度太短的情况删�?</a:t>
            </a:r>
            <a:endParaRPr lang="zh-CN" altLang="en-US"/>
          </a:p>
          <a:p>
            <a:r>
              <a:rPr lang="zh-CN" altLang="en-US"/>
              <a:t>continue;</a:t>
            </a:r>
            <a:endParaRPr lang="zh-CN" altLang="en-US"/>
          </a:p>
        </p:txBody>
      </p:sp>
      <p:sp>
        <p:nvSpPr>
          <p:cNvPr id="9" name="文本框 8"/>
          <p:cNvSpPr txBox="1"/>
          <p:nvPr/>
        </p:nvSpPr>
        <p:spPr>
          <a:xfrm>
            <a:off x="5995035" y="0"/>
            <a:ext cx="6196330" cy="6739255"/>
          </a:xfrm>
          <a:prstGeom prst="rect">
            <a:avLst/>
          </a:prstGeom>
          <a:noFill/>
        </p:spPr>
        <p:txBody>
          <a:bodyPr wrap="square" rtlCol="0">
            <a:spAutoFit/>
          </a:bodyPr>
          <a:p>
            <a:r>
              <a:rPr lang="zh-CN" altLang="en-US"/>
              <a:t>end%船宽�?�?</a:t>
            </a:r>
            <a:endParaRPr lang="zh-CN" altLang="en-US"/>
          </a:p>
          <a:p>
            <a:r>
              <a:rPr lang="zh-CN" altLang="en-US"/>
              <a:t>X_MAX=sqrt(H./A);</a:t>
            </a:r>
            <a:endParaRPr lang="zh-CN" altLang="en-US"/>
          </a:p>
          <a:p>
            <a:r>
              <a:rPr lang="zh-CN" altLang="en-US"/>
              <a:t>if 2*X_MAX&gt;0.2%宽度太大的情况删�?</a:t>
            </a:r>
            <a:endParaRPr lang="zh-CN" altLang="en-US"/>
          </a:p>
          <a:p>
            <a:r>
              <a:rPr lang="zh-CN" altLang="en-US"/>
              <a:t>continue;</a:t>
            </a:r>
            <a:endParaRPr lang="zh-CN" altLang="en-US"/>
          </a:p>
          <a:p>
            <a:r>
              <a:rPr lang="zh-CN" altLang="en-US"/>
              <a:t>end</a:t>
            </a:r>
            <a:endParaRPr lang="zh-CN" altLang="en-US"/>
          </a:p>
          <a:p>
            <a:r>
              <a:rPr lang="zh-CN" altLang="en-US"/>
              <a:t>if 2*X_MAX&lt;0.1%宽度太小的情况删�?</a:t>
            </a:r>
            <a:endParaRPr lang="zh-CN" altLang="en-US"/>
          </a:p>
          <a:p>
            <a:r>
              <a:rPr lang="zh-CN" altLang="en-US"/>
              <a:t>continue;</a:t>
            </a:r>
            <a:endParaRPr lang="zh-CN" altLang="en-US"/>
          </a:p>
          <a:p>
            <a:r>
              <a:rPr lang="zh-CN" altLang="en-US"/>
              <a:t>end</a:t>
            </a:r>
            <a:endParaRPr lang="zh-CN" altLang="en-US"/>
          </a:p>
          <a:p>
            <a:r>
              <a:rPr lang="zh-CN" altLang="en-US"/>
              <a:t>if(Y_MAX/X_MAX)&lt;1.8%长宽比太小的情况删去</a:t>
            </a:r>
            <a:endParaRPr lang="zh-CN" altLang="en-US"/>
          </a:p>
          <a:p>
            <a:r>
              <a:rPr lang="zh-CN" altLang="en-US"/>
              <a:t>continue;</a:t>
            </a:r>
            <a:endParaRPr lang="zh-CN" altLang="en-US"/>
          </a:p>
          <a:p>
            <a:r>
              <a:rPr lang="zh-CN" altLang="en-US"/>
              <a:t>end </a:t>
            </a:r>
            <a:endParaRPr lang="zh-CN" altLang="en-US"/>
          </a:p>
          <a:p>
            <a:r>
              <a:rPr lang="zh-CN" altLang="en-US"/>
              <a:t>if(Y_MAX/X_MAX)&gt;2.5%长宽比太大的情况删去</a:t>
            </a:r>
            <a:endParaRPr lang="zh-CN" altLang="en-US"/>
          </a:p>
          <a:p>
            <a:r>
              <a:rPr lang="zh-CN" altLang="en-US"/>
              <a:t>continue;</a:t>
            </a:r>
            <a:endParaRPr lang="zh-CN" altLang="en-US"/>
          </a:p>
          <a:p>
            <a:r>
              <a:rPr lang="zh-CN" altLang="en-US"/>
              <a:t>end%船体质量</a:t>
            </a:r>
            <a:endParaRPr lang="zh-CN" altLang="en-US"/>
          </a:p>
          <a:p>
            <a:r>
              <a:rPr lang="zh-CN" altLang="en-US"/>
              <a:t>M=boat_Quality(A,B,H,density);%船体重心</a:t>
            </a:r>
            <a:endParaRPr lang="zh-CN" altLang="en-US"/>
          </a:p>
          <a:p>
            <a:r>
              <a:rPr lang="zh-CN" altLang="en-US"/>
              <a:t>center_gravity=boat_COM(A,B,H,density);</a:t>
            </a:r>
            <a:endParaRPr lang="zh-CN" altLang="en-US"/>
          </a:p>
          <a:p>
            <a:r>
              <a:rPr lang="zh-CN" altLang="en-US"/>
              <a:t>if center_gravity&gt;(H*0.88)%重心太高的情况删�?</a:t>
            </a:r>
            <a:endParaRPr lang="zh-CN" altLang="en-US"/>
          </a:p>
          <a:p>
            <a:r>
              <a:rPr lang="zh-CN" altLang="en-US"/>
              <a:t>continue;</a:t>
            </a:r>
            <a:endParaRPr lang="zh-CN" altLang="en-US"/>
          </a:p>
          <a:p>
            <a:r>
              <a:rPr lang="zh-CN" altLang="en-US"/>
              <a:t>end%平吃水线</a:t>
            </a:r>
            <a:endParaRPr lang="zh-CN" altLang="en-US"/>
          </a:p>
          <a:p>
            <a:r>
              <a:rPr lang="zh-CN" altLang="en-US"/>
              <a:t>Water_density=1000;%水密�?</a:t>
            </a:r>
            <a:endParaRPr lang="zh-CN" altLang="en-US"/>
          </a:p>
          <a:p>
            <a:r>
              <a:rPr lang="zh-CN" altLang="en-US"/>
              <a:t>waterline=Waterline(A,B,H,Water_density,M);</a:t>
            </a:r>
            <a:endParaRPr lang="zh-CN" altLang="en-US"/>
          </a:p>
          <a:p>
            <a:r>
              <a:rPr lang="zh-CN" altLang="en-US"/>
              <a:t>if(waterline&gt;(H*0.88))%吃水线太高的跳过</a:t>
            </a:r>
            <a:endParaRPr lang="zh-CN" altLang="en-US"/>
          </a:p>
          <a:p>
            <a:r>
              <a:rPr lang="zh-CN" altLang="en-US"/>
              <a:t>continue;</a:t>
            </a:r>
            <a:endParaRPr lang="zh-CN" altLang="en-US"/>
          </a:p>
          <a:p>
            <a:r>
              <a:rPr lang="zh-CN" altLang="en-US"/>
              <a:t>end</a:t>
            </a:r>
            <a:endParaRPr lang="zh-CN" altLang="en-US"/>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0" y="0"/>
            <a:ext cx="6261735" cy="6185535"/>
          </a:xfrm>
          <a:prstGeom prst="rect">
            <a:avLst/>
          </a:prstGeom>
          <a:noFill/>
        </p:spPr>
        <p:txBody>
          <a:bodyPr wrap="square" rtlCol="0">
            <a:spAutoFit/>
          </a:bodyPr>
          <a:p>
            <a:r>
              <a:rPr lang="zh-CN" altLang="en-US"/>
              <a:t>if(waterline&lt;(0.5*H))%吃水线太低的跳过</a:t>
            </a:r>
            <a:endParaRPr lang="zh-CN" altLang="en-US"/>
          </a:p>
          <a:p>
            <a:r>
              <a:rPr lang="zh-CN" altLang="en-US"/>
              <a:t>continue;</a:t>
            </a:r>
            <a:endParaRPr lang="zh-CN" altLang="en-US"/>
          </a:p>
          <a:p>
            <a:r>
              <a:rPr lang="zh-CN" altLang="en-US"/>
              <a:t>end</a:t>
            </a:r>
            <a:endParaRPr lang="zh-CN" altLang="en-US"/>
          </a:p>
          <a:p>
            <a:r>
              <a:rPr lang="zh-CN" altLang="en-US"/>
              <a:t>if(waterline&lt;center_gravity)%吃水线低于重心跳�?</a:t>
            </a:r>
            <a:endParaRPr lang="zh-CN" altLang="en-US"/>
          </a:p>
          <a:p>
            <a:r>
              <a:rPr lang="zh-CN" altLang="en-US"/>
              <a:t>continue;</a:t>
            </a:r>
            <a:endParaRPr lang="zh-CN" altLang="en-US"/>
          </a:p>
          <a:p>
            <a:r>
              <a:rPr lang="zh-CN" altLang="en-US"/>
              <a:t>end%135吃水�?</a:t>
            </a:r>
            <a:endParaRPr lang="zh-CN" altLang="en-US"/>
          </a:p>
          <a:p>
            <a:r>
              <a:rPr lang="zh-CN" altLang="en-US"/>
              <a:t>c=Waterline_135(A,B,H,X_MAX,M,135);</a:t>
            </a:r>
            <a:endParaRPr lang="zh-CN" altLang="en-US"/>
          </a:p>
          <a:p>
            <a:r>
              <a:rPr lang="zh-CN" altLang="en-US"/>
              <a:t>if c==-5%如果没求�?135吃水线的c就跳�?</a:t>
            </a:r>
            <a:endParaRPr lang="zh-CN" altLang="en-US"/>
          </a:p>
          <a:p>
            <a:r>
              <a:rPr lang="zh-CN" altLang="en-US"/>
              <a:t>continue;</a:t>
            </a:r>
            <a:endParaRPr lang="zh-CN" altLang="en-US"/>
          </a:p>
          <a:p>
            <a:r>
              <a:rPr lang="zh-CN" altLang="en-US"/>
              <a:t>end</a:t>
            </a:r>
            <a:endParaRPr lang="zh-CN" altLang="en-US"/>
          </a:p>
          <a:p>
            <a:r>
              <a:rPr lang="zh-CN" altLang="en-US"/>
              <a:t>cob=COB(A,B,H,X_MAX,c,135);%浮心</a:t>
            </a:r>
            <a:endParaRPr lang="zh-CN" altLang="en-US"/>
          </a:p>
          <a:p>
            <a:r>
              <a:rPr lang="zh-CN" altLang="en-US"/>
              <a:t>com=[0 0 center_gravity];%重心</a:t>
            </a:r>
            <a:endParaRPr lang="zh-CN" altLang="en-US"/>
          </a:p>
          <a:p>
            <a:r>
              <a:rPr lang="zh-CN" altLang="en-US"/>
              <a:t>RS=Resistance_Section(A,waterline);%水下阻力截面面积</a:t>
            </a:r>
            <a:endParaRPr lang="zh-CN" altLang="en-US"/>
          </a:p>
          <a:p>
            <a:r>
              <a:rPr lang="zh-CN" altLang="en-US"/>
              <a:t>RT=Recovery_Torque(com,cob,135,9.8,M);%复原力矩</a:t>
            </a:r>
            <a:endParaRPr lang="zh-CN" altLang="en-US"/>
          </a:p>
          <a:p>
            <a:r>
              <a:rPr lang="zh-CN" altLang="en-US"/>
              <a:t>% v_com=2;</a:t>
            </a:r>
            <a:endParaRPr lang="zh-CN" altLang="en-US"/>
          </a:p>
          <a:p>
            <a:r>
              <a:rPr lang="zh-CN" altLang="en-US"/>
              <a:t>%fprintf('%s ',RT);</a:t>
            </a:r>
            <a:endParaRPr lang="zh-CN" altLang="en-US"/>
          </a:p>
          <a:p>
            <a:r>
              <a:rPr lang="zh-CN" altLang="en-US"/>
              <a:t>%v_com=double(v_com);</a:t>
            </a:r>
            <a:endParaRPr lang="zh-CN" altLang="en-US"/>
          </a:p>
          <a:p>
            <a:r>
              <a:rPr lang="zh-CN" altLang="en-US"/>
              <a:t>RT = sqrt(sum(RT.^2));</a:t>
            </a:r>
            <a:endParaRPr lang="zh-CN" altLang="en-US"/>
          </a:p>
          <a:p>
            <a:r>
              <a:rPr lang="zh-CN" altLang="en-US"/>
              <a:t>if abs(RT)&lt;0.002 </a:t>
            </a:r>
            <a:endParaRPr lang="zh-CN" altLang="en-US"/>
          </a:p>
          <a:p>
            <a:r>
              <a:rPr lang="zh-CN" altLang="en-US"/>
              <a:t>boat.A(count)=A;</a:t>
            </a:r>
            <a:endParaRPr lang="zh-CN" altLang="en-US"/>
          </a:p>
          <a:p>
            <a:r>
              <a:rPr lang="zh-CN" altLang="en-US"/>
              <a:t>boat.B(count)=B;</a:t>
            </a:r>
            <a:endParaRPr lang="zh-CN" altLang="en-US"/>
          </a:p>
          <a:p>
            <a:r>
              <a:rPr lang="zh-CN" altLang="en-US"/>
              <a:t>boat.H(count)=H;</a:t>
            </a:r>
            <a:endParaRPr lang="zh-CN" altLang="en-US"/>
          </a:p>
        </p:txBody>
      </p:sp>
      <p:sp>
        <p:nvSpPr>
          <p:cNvPr id="5" name="文本框 4"/>
          <p:cNvSpPr txBox="1"/>
          <p:nvPr/>
        </p:nvSpPr>
        <p:spPr>
          <a:xfrm>
            <a:off x="5986145" y="0"/>
            <a:ext cx="6205855" cy="4799965"/>
          </a:xfrm>
          <a:prstGeom prst="rect">
            <a:avLst/>
          </a:prstGeom>
          <a:noFill/>
        </p:spPr>
        <p:txBody>
          <a:bodyPr wrap="square" rtlCol="0">
            <a:spAutoFit/>
          </a:bodyPr>
          <a:p>
            <a:r>
              <a:rPr lang="zh-CN" altLang="en-US"/>
              <a:t>boat.boat_qiality(count)=M;%船体质量</a:t>
            </a:r>
            <a:endParaRPr lang="zh-CN" altLang="en-US"/>
          </a:p>
          <a:p>
            <a:r>
              <a:rPr lang="zh-CN" altLang="en-US"/>
              <a:t>boat.waterline(count)=waterline;%平吃水线</a:t>
            </a:r>
            <a:endParaRPr lang="zh-CN" altLang="en-US"/>
          </a:p>
          <a:p>
            <a:r>
              <a:rPr lang="zh-CN" altLang="en-US"/>
              <a:t>boat.boat_com(count)=com(3);%船体重心</a:t>
            </a:r>
            <a:endParaRPr lang="zh-CN" altLang="en-US"/>
          </a:p>
          <a:p>
            <a:r>
              <a:rPr lang="zh-CN" altLang="en-US"/>
              <a:t>boat.Recovery_torque(count)=RT;%复原力矩</a:t>
            </a:r>
            <a:endParaRPr lang="zh-CN" altLang="en-US"/>
          </a:p>
          <a:p>
            <a:r>
              <a:rPr lang="zh-CN" altLang="en-US"/>
              <a:t>boat.Resistance_section(count)=RS;%水下阻力截面面积</a:t>
            </a:r>
            <a:endParaRPr lang="zh-CN" altLang="en-US"/>
          </a:p>
          <a:p>
            <a:r>
              <a:rPr lang="zh-CN" altLang="en-US"/>
              <a:t>boat.boat_lenth(count)=2.*Y_MAX;%船长</a:t>
            </a:r>
            <a:endParaRPr lang="zh-CN" altLang="en-US"/>
          </a:p>
          <a:p>
            <a:r>
              <a:rPr lang="zh-CN" altLang="en-US"/>
              <a:t>boat.boat_width(count)=2.*X_MAX;%船宽</a:t>
            </a:r>
            <a:endParaRPr lang="zh-CN" altLang="en-US"/>
          </a:p>
          <a:p>
            <a:r>
              <a:rPr lang="zh-CN" altLang="en-US"/>
              <a:t>disp(['数据',num2str(count)]);</a:t>
            </a:r>
            <a:endParaRPr lang="zh-CN" altLang="en-US"/>
          </a:p>
          <a:p>
            <a:r>
              <a:rPr lang="zh-CN" altLang="en-US"/>
              <a:t>count=count+1;</a:t>
            </a:r>
            <a:endParaRPr lang="zh-CN" altLang="en-US"/>
          </a:p>
          <a:p>
            <a:r>
              <a:rPr lang="zh-CN" altLang="en-US"/>
              <a:t>disp(['count ',num2str(count)]);</a:t>
            </a:r>
            <a:endParaRPr lang="zh-CN" altLang="en-US"/>
          </a:p>
          <a:p>
            <a:r>
              <a:rPr lang="zh-CN" altLang="en-US"/>
              <a:t>end </a:t>
            </a:r>
            <a:endParaRPr lang="zh-CN" altLang="en-US"/>
          </a:p>
          <a:p>
            <a:r>
              <a:rPr lang="zh-CN" altLang="en-US"/>
              <a:t>end</a:t>
            </a:r>
            <a:endParaRPr lang="zh-CN" altLang="en-US"/>
          </a:p>
          <a:p>
            <a:r>
              <a:rPr lang="zh-CN" altLang="en-US"/>
              <a:t>end</a:t>
            </a:r>
            <a:endParaRPr lang="zh-CN" altLang="en-US"/>
          </a:p>
          <a:p>
            <a:r>
              <a:rPr lang="zh-CN" altLang="en-US"/>
              <a:t>end </a:t>
            </a:r>
            <a:endParaRPr lang="zh-CN" altLang="en-US"/>
          </a:p>
          <a:p>
            <a:r>
              <a:rPr lang="zh-CN" altLang="en-US"/>
              <a:t>%写入excel</a:t>
            </a:r>
            <a:endParaRPr lang="zh-CN" altLang="en-US"/>
          </a:p>
          <a:p>
            <a:r>
              <a:rPr lang="zh-CN" altLang="en-US"/>
              <a:t>Varname= {'A','B','H','整船质量','平吃水线','整船重心','复原力矩','水下阻力截面面积','</a:t>
            </a:r>
            <a:endParaRPr lang="zh-CN" altLang="en-US"/>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用</a:t>
            </a:r>
            <a:r>
              <a:rPr lang="en-US" altLang="zh-CN">
                <a:sym typeface="+mn-ea"/>
              </a:rPr>
              <a:t>3</a:t>
            </a:r>
            <a:r>
              <a:rPr lang="zh-CN" altLang="en-US">
                <a:sym typeface="+mn-ea"/>
              </a:rPr>
              <a:t>解决一些问题</a:t>
            </a:r>
            <a:endParaRPr lang="zh-CN" altLang="en-US"/>
          </a:p>
        </p:txBody>
      </p:sp>
      <p:sp>
        <p:nvSpPr>
          <p:cNvPr id="3" name="内容占位符 2"/>
          <p:cNvSpPr>
            <a:spLocks noGrp="1"/>
          </p:cNvSpPr>
          <p:nvPr>
            <p:ph idx="1"/>
          </p:nvPr>
        </p:nvSpPr>
        <p:spPr/>
        <p:txBody>
          <a:bodyPr/>
          <a:p>
            <a:r>
              <a:rPr lang="zh-CN" altLang="en-US"/>
              <a:t>通过计算机模拟之前的</a:t>
            </a:r>
            <a:r>
              <a:rPr lang="zh-CN" altLang="en-US"/>
              <a:t>等式可以得到复原力矩与船体偏转角的</a:t>
            </a:r>
            <a:r>
              <a:rPr lang="zh-CN" altLang="en-US"/>
              <a:t>关系</a:t>
            </a:r>
            <a:endParaRPr lang="zh-CN" altLang="en-US"/>
          </a:p>
        </p:txBody>
      </p:sp>
      <p:sp>
        <p:nvSpPr>
          <p:cNvPr id="6" name="文本框 5"/>
          <p:cNvSpPr txBox="1"/>
          <p:nvPr/>
        </p:nvSpPr>
        <p:spPr>
          <a:xfrm>
            <a:off x="6428740" y="3429000"/>
            <a:ext cx="4707890" cy="1476375"/>
          </a:xfrm>
          <a:prstGeom prst="rect">
            <a:avLst/>
          </a:prstGeom>
          <a:noFill/>
        </p:spPr>
        <p:txBody>
          <a:bodyPr wrap="square" rtlCol="0">
            <a:spAutoFit/>
          </a:bodyPr>
          <a:p>
            <a:r>
              <a:rPr lang="zh-CN" altLang="en-US"/>
              <a:t>在</a:t>
            </a:r>
            <a:r>
              <a:rPr lang="en-US"/>
              <a:t>135</a:t>
            </a:r>
            <a:r>
              <a:rPr lang="zh-CN" altLang="en-US"/>
              <a:t>度区间复原力据由负变</a:t>
            </a:r>
            <a:r>
              <a:rPr lang="zh-CN" altLang="en-US"/>
              <a:t>正</a:t>
            </a:r>
            <a:endParaRPr lang="zh-CN" altLang="en-US"/>
          </a:p>
          <a:p>
            <a:endParaRPr lang="zh-CN" altLang="en-US"/>
          </a:p>
          <a:p>
            <a:r>
              <a:rPr lang="zh-CN" altLang="en-US"/>
              <a:t>说明船体总势能大约在</a:t>
            </a:r>
            <a:r>
              <a:rPr lang="en-US" altLang="zh-CN"/>
              <a:t>135</a:t>
            </a:r>
            <a:r>
              <a:rPr lang="zh-CN" altLang="en-US"/>
              <a:t>度左右达到最值</a:t>
            </a:r>
            <a:endParaRPr lang="zh-CN" altLang="en-US"/>
          </a:p>
          <a:p>
            <a:endParaRPr lang="zh-CN" altLang="en-US"/>
          </a:p>
          <a:p>
            <a:r>
              <a:rPr lang="zh-CN" altLang="en-US"/>
              <a:t>而船体也最多只能经受</a:t>
            </a:r>
            <a:r>
              <a:rPr lang="en-US" altLang="zh-CN"/>
              <a:t>135</a:t>
            </a:r>
            <a:r>
              <a:rPr lang="zh-CN" altLang="en-US"/>
              <a:t>度左右的翻转</a:t>
            </a:r>
            <a:r>
              <a:rPr lang="zh-CN" altLang="en-US"/>
              <a:t>角</a:t>
            </a:r>
            <a:endParaRPr lang="zh-CN" altLang="en-US"/>
          </a:p>
        </p:txBody>
      </p:sp>
      <p:pic>
        <p:nvPicPr>
          <p:cNvPr id="5" name="图片 4"/>
          <p:cNvPicPr>
            <a:picLocks noChangeAspect="1"/>
          </p:cNvPicPr>
          <p:nvPr/>
        </p:nvPicPr>
        <p:blipFill>
          <a:blip r:embed="rId1"/>
          <a:stretch>
            <a:fillRect/>
          </a:stretch>
        </p:blipFill>
        <p:spPr>
          <a:xfrm>
            <a:off x="608330" y="2223770"/>
            <a:ext cx="5321300" cy="4025900"/>
          </a:xfrm>
          <a:prstGeom prst="rect">
            <a:avLst/>
          </a:prstGeom>
        </p:spPr>
      </p:pic>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用</a:t>
            </a:r>
            <a:r>
              <a:rPr lang="en-US" altLang="zh-CN">
                <a:sym typeface="+mn-ea"/>
              </a:rPr>
              <a:t>3</a:t>
            </a:r>
            <a:r>
              <a:rPr lang="zh-CN" altLang="en-US">
                <a:sym typeface="+mn-ea"/>
              </a:rPr>
              <a:t>解决一些问题</a:t>
            </a:r>
            <a:endParaRPr lang="zh-CN" altLang="en-US"/>
          </a:p>
        </p:txBody>
      </p:sp>
      <p:sp>
        <p:nvSpPr>
          <p:cNvPr id="3" name="内容占位符 2"/>
          <p:cNvSpPr>
            <a:spLocks noGrp="1"/>
          </p:cNvSpPr>
          <p:nvPr>
            <p:ph idx="1"/>
          </p:nvPr>
        </p:nvSpPr>
        <p:spPr/>
        <p:txBody>
          <a:bodyPr/>
          <a:p>
            <a:r>
              <a:rPr lang="zh-CN" altLang="en-US"/>
              <a:t>已知船的的曲面方程</a:t>
            </a:r>
            <a:r>
              <a:rPr lang="en-US" altLang="zh-CN">
                <a:sym typeface="+mn-ea"/>
              </a:rPr>
              <a:t>z</a:t>
            </a:r>
            <a:r>
              <a:rPr lang="zh-CN" altLang="en-US">
                <a:sym typeface="+mn-ea"/>
              </a:rPr>
              <a:t>（</a:t>
            </a:r>
            <a:r>
              <a:rPr lang="en-US" altLang="zh-CN">
                <a:sym typeface="+mn-ea"/>
              </a:rPr>
              <a:t>x</a:t>
            </a:r>
            <a:r>
              <a:rPr lang="zh-CN" altLang="en-US">
                <a:sym typeface="+mn-ea"/>
              </a:rPr>
              <a:t>，</a:t>
            </a:r>
            <a:r>
              <a:rPr lang="en-US" altLang="zh-CN">
                <a:sym typeface="+mn-ea"/>
              </a:rPr>
              <a:t>y</a:t>
            </a:r>
            <a:r>
              <a:rPr lang="zh-CN" altLang="en-US">
                <a:sym typeface="+mn-ea"/>
              </a:rPr>
              <a:t>）</a:t>
            </a:r>
            <a:r>
              <a:rPr lang="en-US" altLang="zh-CN">
                <a:sym typeface="+mn-ea"/>
              </a:rPr>
              <a:t>=18.2x^2+3.7y^2-44.2</a:t>
            </a:r>
            <a:r>
              <a:rPr lang="zh-CN" altLang="en-US"/>
              <a:t>，</a:t>
            </a:r>
            <a:endParaRPr lang="zh-CN" altLang="en-US"/>
          </a:p>
          <a:p>
            <a:r>
              <a:rPr lang="zh-CN" altLang="en-US"/>
              <a:t>让</a:t>
            </a:r>
            <a:r>
              <a:rPr lang="en-US" altLang="zh-CN"/>
              <a:t>y=0</a:t>
            </a:r>
            <a:r>
              <a:rPr lang="zh-CN" altLang="en-US"/>
              <a:t>，</a:t>
            </a:r>
            <a:r>
              <a:rPr lang="en-US" altLang="zh-CN"/>
              <a:t>x=0</a:t>
            </a:r>
            <a:r>
              <a:rPr lang="zh-CN" altLang="en-US"/>
              <a:t>，</a:t>
            </a:r>
            <a:r>
              <a:rPr lang="en-US" altLang="zh-CN"/>
              <a:t>30</a:t>
            </a:r>
            <a:r>
              <a:rPr lang="zh-CN" altLang="en-US"/>
              <a:t>，</a:t>
            </a:r>
            <a:r>
              <a:rPr lang="en-US" altLang="zh-CN"/>
              <a:t>80</a:t>
            </a:r>
            <a:r>
              <a:rPr lang="zh-CN" altLang="en-US"/>
              <a:t>，</a:t>
            </a:r>
            <a:r>
              <a:rPr lang="en-US" altLang="zh-CN"/>
              <a:t>140</a:t>
            </a:r>
            <a:r>
              <a:rPr lang="zh-CN" altLang="en-US"/>
              <a:t>，</a:t>
            </a:r>
            <a:r>
              <a:rPr lang="en-US" altLang="zh-CN"/>
              <a:t>z=75.8</a:t>
            </a:r>
            <a:r>
              <a:rPr lang="zh-CN" altLang="en-US"/>
              <a:t>可以画出龙骨，肋板们和甲板需要的图然后得到专配</a:t>
            </a:r>
            <a:r>
              <a:rPr lang="zh-CN" altLang="en-US"/>
              <a:t>图</a:t>
            </a:r>
            <a:endParaRPr lang="zh-CN" altLang="en-US"/>
          </a:p>
        </p:txBody>
      </p:sp>
      <p:pic>
        <p:nvPicPr>
          <p:cNvPr id="4" name="图片 3"/>
          <p:cNvPicPr>
            <a:picLocks noChangeAspect="1"/>
          </p:cNvPicPr>
          <p:nvPr/>
        </p:nvPicPr>
        <p:blipFill>
          <a:blip r:embed="rId1"/>
          <a:srcRect l="25195" t="7451" r="16691" b="9980"/>
          <a:stretch>
            <a:fillRect/>
          </a:stretch>
        </p:blipFill>
        <p:spPr>
          <a:xfrm>
            <a:off x="5667375" y="2734310"/>
            <a:ext cx="5459730" cy="4123690"/>
          </a:xfrm>
          <a:prstGeom prst="rect">
            <a:avLst/>
          </a:prstGeom>
        </p:spPr>
      </p:pic>
      <p:pic>
        <p:nvPicPr>
          <p:cNvPr id="6" name="图片 5"/>
          <p:cNvPicPr>
            <a:picLocks noChangeAspect="1"/>
          </p:cNvPicPr>
          <p:nvPr/>
        </p:nvPicPr>
        <p:blipFill>
          <a:blip r:embed="rId2"/>
          <a:srcRect l="26813" t="13176" r="26438" b="12245"/>
          <a:stretch>
            <a:fillRect/>
          </a:stretch>
        </p:blipFill>
        <p:spPr>
          <a:xfrm>
            <a:off x="803910" y="2735580"/>
            <a:ext cx="4863465" cy="4122420"/>
          </a:xfrm>
          <a:prstGeom prst="rect">
            <a:avLst/>
          </a:prstGeom>
        </p:spPr>
      </p:pic>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用</a:t>
            </a:r>
            <a:r>
              <a:rPr lang="en-US" altLang="zh-CN">
                <a:sym typeface="+mn-ea"/>
              </a:rPr>
              <a:t>3</a:t>
            </a:r>
            <a:r>
              <a:rPr lang="zh-CN" altLang="en-US">
                <a:sym typeface="+mn-ea"/>
              </a:rPr>
              <a:t>解决一些问题</a:t>
            </a:r>
            <a:endParaRPr lang="zh-CN" altLang="en-US"/>
          </a:p>
        </p:txBody>
      </p:sp>
      <p:sp>
        <p:nvSpPr>
          <p:cNvPr id="3" name="内容占位符 2"/>
          <p:cNvSpPr>
            <a:spLocks noGrp="1"/>
          </p:cNvSpPr>
          <p:nvPr>
            <p:ph idx="1"/>
          </p:nvPr>
        </p:nvSpPr>
        <p:spPr>
          <a:xfrm>
            <a:off x="563950" y="1542470"/>
            <a:ext cx="10969200" cy="4759200"/>
          </a:xfrm>
        </p:spPr>
        <p:txBody>
          <a:bodyPr/>
          <a:p>
            <a:r>
              <a:rPr lang="zh-CN" altLang="en-US"/>
              <a:t>得到图纸以后就可以去切割</a:t>
            </a:r>
            <a:r>
              <a:rPr lang="zh-CN" altLang="en-US"/>
              <a:t>组装</a:t>
            </a:r>
            <a:endParaRPr lang="zh-CN" altLang="en-US"/>
          </a:p>
          <a:p>
            <a:endParaRPr lang="zh-CN" altLang="en-US"/>
          </a:p>
        </p:txBody>
      </p:sp>
      <p:pic>
        <p:nvPicPr>
          <p:cNvPr id="4" name="图片 3"/>
          <p:cNvPicPr>
            <a:picLocks noChangeAspect="1"/>
          </p:cNvPicPr>
          <p:nvPr/>
        </p:nvPicPr>
        <p:blipFill>
          <a:blip r:embed="rId1"/>
          <a:srcRect l="26760" t="3913" r="38879" b="50977"/>
          <a:stretch>
            <a:fillRect/>
          </a:stretch>
        </p:blipFill>
        <p:spPr>
          <a:xfrm>
            <a:off x="7777480" y="2480310"/>
            <a:ext cx="4475480" cy="4408170"/>
          </a:xfrm>
          <a:prstGeom prst="rect">
            <a:avLst/>
          </a:prstGeom>
        </p:spPr>
      </p:pic>
      <p:pic>
        <p:nvPicPr>
          <p:cNvPr id="5" name="图片 4"/>
          <p:cNvPicPr>
            <a:picLocks noChangeAspect="1"/>
          </p:cNvPicPr>
          <p:nvPr/>
        </p:nvPicPr>
        <p:blipFill>
          <a:blip r:embed="rId2"/>
          <a:stretch>
            <a:fillRect/>
          </a:stretch>
        </p:blipFill>
        <p:spPr>
          <a:xfrm>
            <a:off x="0" y="2480310"/>
            <a:ext cx="7777480" cy="4377690"/>
          </a:xfrm>
          <a:prstGeom prst="rect">
            <a:avLst/>
          </a:prstGeom>
        </p:spPr>
      </p:pic>
    </p:spTree>
    <p:custDataLst>
      <p:tags r:id="rId3"/>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0" name="图片 99"/>
          <p:cNvPicPr/>
          <p:nvPr/>
        </p:nvPicPr>
        <p:blipFill>
          <a:blip r:embed="rId1"/>
          <a:stretch>
            <a:fillRect/>
          </a:stretch>
        </p:blipFill>
        <p:spPr>
          <a:xfrm>
            <a:off x="0" y="-635"/>
            <a:ext cx="12192000" cy="6858635"/>
          </a:xfrm>
          <a:prstGeom prst="rect">
            <a:avLst/>
          </a:prstGeom>
          <a:noFill/>
          <a:ln w="9525">
            <a:noFill/>
          </a:ln>
        </p:spPr>
      </p:pic>
      <p:sp>
        <p:nvSpPr>
          <p:cNvPr id="2" name="标题 1"/>
          <p:cNvSpPr>
            <a:spLocks noGrp="1"/>
          </p:cNvSpPr>
          <p:nvPr>
            <p:ph type="title"/>
          </p:nvPr>
        </p:nvSpPr>
        <p:spPr>
          <a:xfrm>
            <a:off x="10384790" y="5763895"/>
            <a:ext cx="1410335" cy="705485"/>
          </a:xfrm>
        </p:spPr>
        <p:txBody>
          <a:bodyPr/>
          <a:p>
            <a:r>
              <a:rPr lang="zh-CN" altLang="en-US">
                <a:solidFill>
                  <a:schemeClr val="bg1"/>
                </a:solidFill>
              </a:rPr>
              <a:t>谢谢</a:t>
            </a:r>
            <a:endParaRPr lang="zh-CN" altLang="en-US">
              <a:solidFill>
                <a:schemeClr val="bg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TEMPLATE_CATEGORY" val="custom"/>
  <p:tag name="KSO_WM_TEMPLATE_INDEX" val="20205081"/>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TABLE_ENDDRAG_ORIGIN_RECT" val="649*294"/>
  <p:tag name="TABLE_ENDDRAG_RECT" val="210*80*649*294"/>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94.xml><?xml version="1.0" encoding="utf-8"?>
<p:tagLst xmlns:p="http://schemas.openxmlformats.org/presentationml/2006/main">
  <p:tag name="KSO_WM_BEAUTIFY_FLAG" val="#wm#"/>
  <p:tag name="KSO_WM_TEMPLATE_CATEGORY" val="custom"/>
  <p:tag name="KSO_WM_TEMPLATE_INDEX" val="20205081"/>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BEAUTIFY_FLAG" val="#wm#"/>
  <p:tag name="KSO_WM_TEMPLATE_CATEGORY" val="custom"/>
  <p:tag name="KSO_WM_TEMPLATE_INDEX" val="20205081"/>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commondata" val="eyJoZGlkIjoiZWVlYTVhZGEyYjU2YTQ2M2QyMGYxMjFjMjgwNmM1NTg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5784</Words>
  <Application>WPS 演示</Application>
  <PresentationFormat>宽屏</PresentationFormat>
  <Paragraphs>585</Paragraphs>
  <Slides>35</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Arial</vt:lpstr>
      <vt:lpstr>宋体</vt:lpstr>
      <vt:lpstr>Wingdings</vt:lpstr>
      <vt:lpstr>Wingdings</vt:lpstr>
      <vt:lpstr>微软雅黑</vt:lpstr>
      <vt:lpstr>Arial Unicode MS</vt:lpstr>
      <vt:lpstr>Calibri</vt:lpstr>
      <vt:lpstr>等线</vt:lpstr>
      <vt:lpstr>WPS</vt:lpstr>
      <vt:lpstr>船模</vt:lpstr>
      <vt:lpstr>目录</vt:lpstr>
      <vt:lpstr>总体思路</vt:lpstr>
      <vt:lpstr>总体思路</vt:lpstr>
      <vt:lpstr>总体思路</vt:lpstr>
      <vt:lpstr>目录</vt:lpstr>
      <vt:lpstr>液面倾斜对Δz浮心和Δz质心的关系</vt:lpstr>
      <vt:lpstr>目录</vt:lpstr>
      <vt:lpstr>小试牛刀，计算截面的ΔZ浮心算法</vt:lpstr>
      <vt:lpstr>小试牛刀，计算截面的ΔZ浮心算法</vt:lpstr>
      <vt:lpstr>小试牛刀，计算截面的ΔZ浮心算法</vt:lpstr>
      <vt:lpstr>小试牛刀，计算截面的ΔZ浮心算法</vt:lpstr>
      <vt:lpstr>目录</vt:lpstr>
      <vt:lpstr>船体浮心的计算</vt:lpstr>
      <vt:lpstr>船体浮心的计算</vt:lpstr>
      <vt:lpstr>船体浮心的计算</vt:lpstr>
      <vt:lpstr>船体浮心的计算</vt:lpstr>
      <vt:lpstr>PowerPoint 演示文稿</vt:lpstr>
      <vt:lpstr>目录</vt:lpstr>
      <vt:lpstr>船体总质量的计算</vt:lpstr>
      <vt:lpstr>PowerPoint 演示文稿</vt:lpstr>
      <vt:lpstr>船体总质量的计算</vt:lpstr>
      <vt:lpstr>船体总质量的计算</vt:lpstr>
      <vt:lpstr>船体总质量的计算</vt:lpstr>
      <vt:lpstr>船体总质量的计算</vt:lpstr>
      <vt:lpstr>目录</vt:lpstr>
      <vt:lpstr>船体吃水深度H的计算</vt:lpstr>
      <vt:lpstr>目录</vt:lpstr>
      <vt:lpstr>用3解决一些问题</vt:lpstr>
      <vt:lpstr>PowerPoint 演示文稿</vt:lpstr>
      <vt:lpstr>PowerPoint 演示文稿</vt:lpstr>
      <vt:lpstr>用3解决一些问题</vt:lpstr>
      <vt:lpstr>用3解决一些问题</vt:lpstr>
      <vt:lpstr>用3解决一些问题</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宇&amp;轩</cp:lastModifiedBy>
  <cp:revision>159</cp:revision>
  <dcterms:created xsi:type="dcterms:W3CDTF">2019-06-19T02:08:00Z</dcterms:created>
  <dcterms:modified xsi:type="dcterms:W3CDTF">2024-06-29T11:53:09Z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18C61971842B4D5B9165B748D10D8B52_13</vt:lpwstr>
  </property>
</Properties>
</file>